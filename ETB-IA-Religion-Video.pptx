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SLIDE 1 · PORTADA
Bienvenidos. Mi nombre es [tu nombre] y soy parte del equipo de EdTech Believers.
En la sesión anterior estuvieron hablando de qué es la inteligencia artificial, cómo funciona, y qué dice la Iglesia sobre su uso en la educación. Esa conversación era necesaria. Pero esta sesión es diferente.
Yo no vine a hablarles de IA en abstracto. Vine a mostrarles cómo usarla hoy — específicamente para hacer lo que ustedes hacen todos los días: planificar y diseñar experiencias de aprendizaje para sus estudiantes de religión.
En los próximos 30 minutos vamos a recorrer juntos un workflow completo. Desde que abres el libro de texto hasta que tienes una experiencia de aprendizaje lista para adaptar. Todo fundamentado en los estándares y en la doctrina de la Iglesia.
[PAUSA · B-ROLL: diagrama de flujo del workflow]
Arranquemos.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SLIDE 2 · EL WORKFLOW
Antes de ver cualquier herramienta, quiero que vean el mapa completo. Porque el secreto de este workflow no está en ninguna herramienta en particular — está en el orden y en la intención con que las usas.
Son cinco pasos. Empezamos donde ya están: el libro.
Paso cero — el libro de texto. No lo vamos a ignorar. Al contrario, es el primer lugar donde miramos para saber qué unidad estamos planificando y para construir el primer prompt que llevamos a la siguiente herramienta.
Paso uno — NotebookLM. Aquí cargamos el documento oficial de estándares curriculares y conversamos con él. No lo leemos de cabo a rabo — le preguntamos lo que necesitamos saber.
Paso dos — Magisterium AI. Antes de diseñar cualquier experiencia, verificamos que el contenido doctrinal esté fundamentado en fuentes del Magisterio. Esto es lo que diferencia la planificación de un maestro de religión de la de cualquier otro.
Paso tres — De vuelta a NotebookLM. Con todo el material cargado, le pedimos que consolide un brief. Y luego — y esto es el momento más poderoso — le pedimos que genere el prompt que vamos a usar en la siguiente herramienta.
Paso cuatro — CopilotERE o MagicSchool. Ejecutamos el prompt y generamos la experiencia de aprendizaje.
Y en todo momento — [señalar la barra roja] — la revisión humana es transversal. Cada output que produce la IA pasa por tu criterio docente antes de convertirse en una lección.
[B-ROLL: diagrama de flujo interactivo en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SLIDE 2B · HERRAMIENTAS DE EXPLORACIÓN
Vamos a detenernos un momento en las dos herramientas del corazón del workflow, porque tienen propósitos muy distintos y se complementan de una manera que vale la pena entender.
NotebookLM — de Google — es básicamente un asistente de lectura con esteroides. Tú le cargas documentos: el PDF de los estándares, tus notas, outputs de otras herramientas. Y luego conversas con él en lenguaje natural. No tienes que saber exactamente qué buscar — puedes preguntar como le preguntarías a un colega.
[señalar bullets de NotebookLM]
Lo que lo hace especialmente poderoso para nuestro workflow es que puedes convertir los outputs de la conversación en fuentes adicionales. Así el notebook va acumulando inteligencia — y al final te genera el brief y el prompt directamente desde ese contexto acumulado.
Magisterium AI es diferente. Está diseñado exclusivamente para el Magisterio de la Iglesia Católica — Catecismo, Vaticano II, encíclicas, documentos sinodales. Sus fuentes están acotadas, lo que reduce el riesgo de que te invente citas. Pero igual — [señalar la barra roja] — siempre verifica en la fuente original antes de llevar algo al salón.
El flujo entre las dos es simple: consultas en Magisterium, exportas a Google Docs, y desde Drive lo añades directamente a tu notebook en NotebookLM. Las dos herramientas se conectan sin fricciones.
[B-ROLL: NotebookLM con fuentes cargadas · luego Magisterium en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SLIDE 3 · EL PROMPT
La sesión anterior les habló del prompt. Yo quiero profundizar en eso desde la perspectiva de ustedes — maestros de religión.
Un prompt es simplemente el mensaje que le das a la IA. Pero la diferencia entre un prompt que da resultados genéricos y uno que da resultados útiles es una sola cosa: contexto.
Miren el ejemplo de la izquierda. [señalar recuadro rojo] "Hazme un plan de clase sobre los sacramentos." La IA no sabe qué grado, no sabe qué objetivo, no sabe quiénes son tus estudiantes, no sabe qué dice la doctrina. Va a producir algo genérico.
Ahora miren el de la derecha. [señalar recuadro verde] El mismo tema — los sacramentos — pero con grado, objetivo del estándar, referencia doctrinal, perfil del estudiante, y el tipo de experiencia que necesito. El output va a ser radicalmente diferente.
La anatomía de un buen prompt tiene cinco partes: el rol que le asignas a la IA, el contexto de tu unidad, la tarea específica, el formato en que quieres el resultado, y las restricciones o límites.
Y aquí está la clave — [pausa] — ese contexto no lo inventas. Lo construyes durante el workflow. NotebookLM y Magisterium te lo dan. Tú simplemente lo ensamblas.
De hecho — al final del workflow — NotebookLM va a generar ese prompt por ti.
[B-ROLL: pantalla mostrando prompt template en blanco vs. prompt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SLIDE 4 · COPILOTERE vs MAGICSCHOOL
Una vez tienes el prompt listo — validado por ti — tienes dos opciones para ejecutarlo.
CopilotERE es el asistente personalizado que hemos construido específicamente para maestros de religión. Tiene los estándares curriculares cargados. Recuerda el contexto de tu unidad durante toda la conversación. Es ideal cuando quieres iterar — generar un plan, ajustarlo, pedir una evaluación, refinar el hook — todo en una sola sesión.
MagicSchool AI es una plataforma que ya muchos de ustedes conocen. Tiene herramientas específicas para cada tipo de recurso: Lesson Plan Generator, Hook Activity, Rubric Generator. Es ideal cuando sabes exactamente qué necesitas y quieres generarlo rápido.
La buena noticia es que el mismo prompt que construiste funciona en los dos. No tienes que escribir dos prompts distintos. Solo eliges la herramienta según la ocasión.
CopilotERE para conversación y contexto continuo. MagicSchool para un recurso específico y rápido.
[B-ROLL: pantalla con CopilotERE abierto · mismo prompt ejecutado en MagicSchool]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SLIDE QR · HERRAMIENTAS
Esta slide se queda en pantalla mientras hacen preguntas o mientras los maestros sacan sus teléfonos.
Antes de cerrar — aquí tienen acceso directo a todo lo que vimos hoy. Seis códigos QR:
NotebookLM — gratuito con cuenta de Google. Suban el PDF de sus estándares esta semana.
Magisterium AI — tiene versión gratuita con límite de consultas. Suficiente para empezar.
La plataforma editorial de su libro — ya la tienen. Solo que ahora la van a usar diferente: como generador del primer prompt.
MagicSchool AI — muchos de ustedes ya la conocen. Úsenla con el prompt que construye el workflow.
CopilotERE — el asistente personalizado para maestros de religión. Tiene los estándares cargados.
Y el repo de ETB — ahí están el workflow completo, el diagrama, y el prompt template descargable.
[Dejar la slide en pantalla · dar tiempo para escanear]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SLIDE 5 · CIERRE
Resumamos en 60 segundos lo que vimos hoy.
El workflow empieza en el libro — el recurso que ya tienen en mano. Desde ahí generamos el primer prompt para NotebookLM, donde conversamos con el documento de estándares. Luego vamos a Magisterium para validar las fuentes doctrinales, y esos outputs los añadimos al notebook. Con todo cargado, le pedimos el brief — y con solo el brief activo, NotebookLM nos genera el prompt listo para CopilotERE o MagicSchool. Y el resultado es una experiencia de aprendizaje fundamentada en el estándar, anclada en la doctrina, y diseñada para tus estudiantes reales.
[PAUSA]
El reto para esta semana es simple. Abre NotebookLM. Carga el PDF de tus estándares. Y hazle una sola pregunta sobre la unidad que estás planificando. Solo eso. El resto viene solo.
Los tres recursos que ven en pantalla están disponibles desde hoy. El workflow completo, el diagrama, y el prompt template que pueden descargar y usar directamente.
[señalar links]
Recuerden: la IA produce el borrador. Ustedes producen la lección. Esa distinción es lo que hace que todo esto tenga valor pedagógico real.
Gracias. Estoy disponible para preguntas.
[FIN · B-ROLL: pantalla con el sitio web abierto]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00B4D8">
              <a:alpha val="8000"/>
            </a:srgbClr>
          </a:solidFill>
          <a:ln w="12700">
            <a:solidFill>
              <a:srgbClr val="00B4D8">
                <a:alpha val="0"/>
              </a:srgbClr>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384048"/>
            <a:ext cx="594360" cy="594360"/>
          </a:xfrm>
          <a:prstGeom prst="rect">
            <a:avLst/>
          </a:prstGeom>
        </p:spPr>
      </p:pic>
      <p:sp>
        <p:nvSpPr>
          <p:cNvPr id="4" name="Text 1"/>
          <p:cNvSpPr/>
          <p:nvPr/>
        </p:nvSpPr>
        <p:spPr>
          <a:xfrm>
            <a:off x="1170432" y="402336"/>
            <a:ext cx="2743200" cy="347472"/>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ETB</a:t>
            </a:r>
            <a:pPr indent="0" marL="0">
              <a:buNone/>
            </a:pPr>
            <a:r>
              <a:rPr lang="en-US" sz="1600" dirty="0">
                <a:solidFill>
                  <a:srgbClr val="00B4D8"/>
                </a:solidFill>
                <a:latin typeface="Trebuchet MS" pitchFamily="34" charset="0"/>
                <a:ea typeface="Trebuchet MS" pitchFamily="34" charset="-122"/>
                <a:cs typeface="Trebuchet MS" pitchFamily="34" charset="-120"/>
              </a:rPr>
              <a:t>.education</a:t>
            </a:r>
            <a:endParaRPr lang="en-US" sz="1600" dirty="0"/>
          </a:p>
        </p:txBody>
      </p:sp>
      <p:sp>
        <p:nvSpPr>
          <p:cNvPr id="5" name="Text 2"/>
          <p:cNvSpPr/>
          <p:nvPr/>
        </p:nvSpPr>
        <p:spPr>
          <a:xfrm>
            <a:off x="502920" y="1188720"/>
            <a:ext cx="8229600" cy="228600"/>
          </a:xfrm>
          <a:prstGeom prst="rect">
            <a:avLst/>
          </a:prstGeom>
          <a:noFill/>
          <a:ln/>
        </p:spPr>
        <p:txBody>
          <a:bodyPr wrap="square" lIns="0" tIns="0" rIns="0" bIns="0" rtlCol="0" anchor="ctr"/>
          <a:lstStyle/>
          <a:p>
            <a:pPr indent="0" marL="0">
              <a:buNone/>
            </a:pPr>
            <a:r>
              <a:rPr lang="en-US" sz="800" spc="250" kern="0" dirty="0">
                <a:solidFill>
                  <a:srgbClr val="00B4D8"/>
                </a:solidFill>
                <a:latin typeface="Calibri" pitchFamily="34" charset="0"/>
                <a:ea typeface="Calibri" pitchFamily="34" charset="-122"/>
                <a:cs typeface="Calibri" pitchFamily="34" charset="-120"/>
              </a:rPr>
              <a:t>RECURSO DOCENTE · IA EN EDUCACIÓN RELIGIOSA K-12</a:t>
            </a:r>
            <a:endParaRPr lang="en-US" sz="800" dirty="0"/>
          </a:p>
        </p:txBody>
      </p:sp>
      <p:sp>
        <p:nvSpPr>
          <p:cNvPr id="6" name="Shape 3"/>
          <p:cNvSpPr/>
          <p:nvPr/>
        </p:nvSpPr>
        <p:spPr>
          <a:xfrm>
            <a:off x="502920" y="1463040"/>
            <a:ext cx="1280160" cy="36576"/>
          </a:xfrm>
          <a:prstGeom prst="rect">
            <a:avLst/>
          </a:prstGeom>
          <a:solidFill>
            <a:srgbClr val="00B4D8"/>
          </a:solidFill>
          <a:ln w="12700">
            <a:solidFill>
              <a:srgbClr val="00B4D8"/>
            </a:solidFill>
            <a:prstDash val="solid"/>
          </a:ln>
        </p:spPr>
      </p:sp>
      <p:sp>
        <p:nvSpPr>
          <p:cNvPr id="7" name="Text 4"/>
          <p:cNvSpPr/>
          <p:nvPr/>
        </p:nvSpPr>
        <p:spPr>
          <a:xfrm>
            <a:off x="502920" y="1600200"/>
            <a:ext cx="7772400" cy="77724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Planificación con IA</a:t>
            </a:r>
            <a:endParaRPr lang="en-US" sz="4400" dirty="0"/>
          </a:p>
        </p:txBody>
      </p:sp>
      <p:sp>
        <p:nvSpPr>
          <p:cNvPr id="8" name="Text 5"/>
          <p:cNvSpPr/>
          <p:nvPr/>
        </p:nvSpPr>
        <p:spPr>
          <a:xfrm>
            <a:off x="502920" y="2331720"/>
            <a:ext cx="7772400" cy="594360"/>
          </a:xfrm>
          <a:prstGeom prst="rect">
            <a:avLst/>
          </a:prstGeom>
          <a:noFill/>
          <a:ln/>
        </p:spPr>
        <p:txBody>
          <a:bodyPr wrap="square" lIns="0" tIns="0" rIns="0" bIns="0" rtlCol="0" anchor="ctr"/>
          <a:lstStyle/>
          <a:p>
            <a:pPr indent="0" marL="0">
              <a:buNone/>
            </a:pPr>
            <a:r>
              <a:rPr lang="en-US" sz="3000" i="1" dirty="0">
                <a:solidFill>
                  <a:srgbClr val="00B4D8"/>
                </a:solidFill>
                <a:latin typeface="Trebuchet MS" pitchFamily="34" charset="0"/>
                <a:ea typeface="Trebuchet MS" pitchFamily="34" charset="-122"/>
                <a:cs typeface="Trebuchet MS" pitchFamily="34" charset="-120"/>
              </a:rPr>
              <a:t>para Maestros de Religión</a:t>
            </a:r>
            <a:endParaRPr lang="en-US" sz="3000" dirty="0"/>
          </a:p>
        </p:txBody>
      </p:sp>
      <p:sp>
        <p:nvSpPr>
          <p:cNvPr id="9" name="Text 6"/>
          <p:cNvSpPr/>
          <p:nvPr/>
        </p:nvSpPr>
        <p:spPr>
          <a:xfrm>
            <a:off x="502920" y="3063240"/>
            <a:ext cx="7772400" cy="320040"/>
          </a:xfrm>
          <a:prstGeom prst="rect">
            <a:avLst/>
          </a:prstGeom>
          <a:noFill/>
          <a:ln/>
        </p:spPr>
        <p:txBody>
          <a:bodyPr wrap="square" lIns="0" tIns="0" rIns="0" bIns="0" rtlCol="0" anchor="ctr"/>
          <a:lstStyle/>
          <a:p>
            <a:pPr indent="0" marL="0">
              <a:buNone/>
            </a:pPr>
            <a:r>
              <a:rPr lang="en-US" sz="1200" dirty="0">
                <a:solidFill>
                  <a:srgbClr val="777777"/>
                </a:solidFill>
                <a:latin typeface="Calibri" pitchFamily="34" charset="0"/>
                <a:ea typeface="Calibri" pitchFamily="34" charset="-122"/>
                <a:cs typeface="Calibri" pitchFamily="34" charset="-120"/>
              </a:rPr>
              <a:t>Del libro al estándar · De la doctrina al aula · De la idea a la experiencia de aprendizaje</a:t>
            </a:r>
            <a:endParaRPr lang="en-US" sz="1200" dirty="0"/>
          </a:p>
        </p:txBody>
      </p:sp>
      <p:sp>
        <p:nvSpPr>
          <p:cNvPr id="10" name="Shape 7"/>
          <p:cNvSpPr/>
          <p:nvPr/>
        </p:nvSpPr>
        <p:spPr>
          <a:xfrm>
            <a:off x="0" y="4645152"/>
            <a:ext cx="9144000" cy="502920"/>
          </a:xfrm>
          <a:prstGeom prst="rect">
            <a:avLst/>
          </a:prstGeom>
          <a:solidFill>
            <a:srgbClr val="111111"/>
          </a:solidFill>
          <a:ln w="12700">
            <a:solidFill>
              <a:srgbClr val="111111"/>
            </a:solidFill>
            <a:prstDash val="solid"/>
          </a:ln>
        </p:spPr>
      </p:sp>
      <p:sp>
        <p:nvSpPr>
          <p:cNvPr id="11" name="Shape 8"/>
          <p:cNvSpPr/>
          <p:nvPr/>
        </p:nvSpPr>
        <p:spPr>
          <a:xfrm>
            <a:off x="0" y="4617720"/>
            <a:ext cx="9144000" cy="36576"/>
          </a:xfrm>
          <a:prstGeom prst="rect">
            <a:avLst/>
          </a:prstGeom>
          <a:solidFill>
            <a:srgbClr val="00B4D8"/>
          </a:solidFill>
          <a:ln w="12700">
            <a:solidFill>
              <a:srgbClr val="00B4D8"/>
            </a:solidFill>
            <a:prstDash val="solid"/>
          </a:ln>
        </p:spPr>
      </p:sp>
      <p:sp>
        <p:nvSpPr>
          <p:cNvPr id="12" name="Text 9"/>
          <p:cNvSpPr/>
          <p:nvPr/>
        </p:nvSpPr>
        <p:spPr>
          <a:xfrm>
            <a:off x="365760" y="4663440"/>
            <a:ext cx="8412480" cy="36576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Empowering Education for the Digital Age  ·  etbeducation.github.io/workflow-ia-religion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4D8"/>
          </a:solidFill>
          <a:ln w="12700">
            <a:solidFill>
              <a:srgbClr val="00B4D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850" spc="250" kern="0" dirty="0">
                <a:solidFill>
                  <a:srgbClr val="00B4D8"/>
                </a:solidFill>
                <a:latin typeface="Calibri" pitchFamily="34" charset="0"/>
                <a:ea typeface="Calibri" pitchFamily="34" charset="-122"/>
                <a:cs typeface="Calibri" pitchFamily="34" charset="-120"/>
              </a:rPr>
              <a:t>EL WORKFLOW COMPLETO</a:t>
            </a:r>
            <a:endParaRPr lang="en-US" sz="85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indent="0" marL="0">
              <a:buNone/>
            </a:pPr>
            <a:r>
              <a:rPr lang="en-US" sz="1700" b="1" dirty="0">
                <a:solidFill>
                  <a:srgbClr val="333333"/>
                </a:solidFill>
                <a:latin typeface="Trebuchet MS" pitchFamily="34" charset="0"/>
                <a:ea typeface="Trebuchet MS" pitchFamily="34" charset="-122"/>
                <a:cs typeface="Trebuchet MS" pitchFamily="34" charset="-120"/>
              </a:rPr>
              <a:t>De los contenidos del libro a la experiencia de aprendizaje</a:t>
            </a:r>
            <a:endParaRPr lang="en-US" sz="1700" dirty="0"/>
          </a:p>
        </p:txBody>
      </p:sp>
      <p:sp>
        <p:nvSpPr>
          <p:cNvPr id="5" name="Shape 3"/>
          <p:cNvSpPr/>
          <p:nvPr/>
        </p:nvSpPr>
        <p:spPr>
          <a:xfrm>
            <a:off x="365760" y="1033272"/>
            <a:ext cx="329184" cy="329184"/>
          </a:xfrm>
          <a:prstGeom prst="ellipse">
            <a:avLst/>
          </a:prstGeom>
          <a:solidFill>
            <a:srgbClr val="00B4D8">
              <a:alpha val="15000"/>
            </a:srgbClr>
          </a:solidFill>
          <a:ln w="12700">
            <a:solidFill>
              <a:srgbClr val="00B4D8"/>
            </a:solidFill>
            <a:prstDash val="solid"/>
          </a:ln>
        </p:spPr>
      </p:sp>
      <p:sp>
        <p:nvSpPr>
          <p:cNvPr id="6" name="Text 4"/>
          <p:cNvSpPr/>
          <p:nvPr/>
        </p:nvSpPr>
        <p:spPr>
          <a:xfrm>
            <a:off x="365760" y="1033272"/>
            <a:ext cx="329184" cy="329184"/>
          </a:xfrm>
          <a:prstGeom prst="rect">
            <a:avLst/>
          </a:prstGeom>
          <a:noFill/>
          <a:ln/>
        </p:spPr>
        <p:txBody>
          <a:bodyPr wrap="square" lIns="0" tIns="0" rIns="0" bIns="0" rtlCol="0" anchor="ctr"/>
          <a:lstStyle/>
          <a:p>
            <a:pPr algn="ctr" indent="0" marL="0">
              <a:buNone/>
            </a:pPr>
            <a:r>
              <a:rPr lang="en-US" sz="800" b="1" dirty="0">
                <a:solidFill>
                  <a:srgbClr val="00B4D8"/>
                </a:solidFill>
                <a:latin typeface="Calibri" pitchFamily="34" charset="0"/>
                <a:ea typeface="Calibri" pitchFamily="34" charset="-122"/>
                <a:cs typeface="Calibri" pitchFamily="34" charset="-120"/>
              </a:rPr>
              <a:t>00</a:t>
            </a:r>
            <a:endParaRPr lang="en-US" sz="800" dirty="0"/>
          </a:p>
        </p:txBody>
      </p:sp>
      <p:sp>
        <p:nvSpPr>
          <p:cNvPr id="7" name="Shape 5"/>
          <p:cNvSpPr/>
          <p:nvPr/>
        </p:nvSpPr>
        <p:spPr>
          <a:xfrm>
            <a:off x="530352" y="1362456"/>
            <a:ext cx="0" cy="356616"/>
          </a:xfrm>
          <a:prstGeom prst="line">
            <a:avLst/>
          </a:prstGeom>
          <a:noFill/>
          <a:ln w="19050">
            <a:solidFill>
              <a:srgbClr val="E4E4E4"/>
            </a:solidFill>
            <a:prstDash val="sysDot"/>
          </a:ln>
        </p:spPr>
      </p:sp>
      <p:sp>
        <p:nvSpPr>
          <p:cNvPr id="8" name="Text 6"/>
          <p:cNvSpPr/>
          <p:nvPr/>
        </p:nvSpPr>
        <p:spPr>
          <a:xfrm>
            <a:off x="822960" y="1033272"/>
            <a:ext cx="3931920" cy="201168"/>
          </a:xfrm>
          <a:prstGeom prst="rect">
            <a:avLst/>
          </a:prstGeom>
          <a:noFill/>
          <a:ln/>
        </p:spPr>
        <p:txBody>
          <a:bodyPr wrap="square" lIns="0" tIns="0" rIns="0" bIns="0" rtlCol="0" anchor="ctr"/>
          <a:lstStyle/>
          <a:p>
            <a:pPr indent="0" marL="0">
              <a:buNone/>
            </a:pPr>
            <a:r>
              <a:rPr lang="en-US" sz="1200" b="1" dirty="0">
                <a:solidFill>
                  <a:srgbClr val="333333"/>
                </a:solidFill>
                <a:latin typeface="Trebuchet MS" pitchFamily="34" charset="0"/>
                <a:ea typeface="Trebuchet MS" pitchFamily="34" charset="-122"/>
                <a:cs typeface="Trebuchet MS" pitchFamily="34" charset="-120"/>
              </a:rPr>
              <a:t>Libro de texto</a:t>
            </a:r>
            <a:endParaRPr lang="en-US" sz="1200" dirty="0"/>
          </a:p>
        </p:txBody>
      </p:sp>
      <p:sp>
        <p:nvSpPr>
          <p:cNvPr id="9" name="Text 7"/>
          <p:cNvSpPr/>
          <p:nvPr/>
        </p:nvSpPr>
        <p:spPr>
          <a:xfrm>
            <a:off x="822960" y="1234440"/>
            <a:ext cx="3931920" cy="182880"/>
          </a:xfrm>
          <a:prstGeom prst="rect">
            <a:avLst/>
          </a:prstGeom>
          <a:noFill/>
          <a:ln/>
        </p:spPr>
        <p:txBody>
          <a:bodyPr wrap="square" lIns="0" tIns="0" rIns="0" bIns="0" rtlCol="0" anchor="ctr"/>
          <a:lstStyle/>
          <a:p>
            <a:pPr indent="0" marL="0">
              <a:buNone/>
            </a:pPr>
            <a:r>
              <a:rPr lang="en-US" sz="850" dirty="0">
                <a:solidFill>
                  <a:srgbClr val="666666"/>
                </a:solidFill>
                <a:latin typeface="Calibri" pitchFamily="34" charset="0"/>
                <a:ea typeface="Calibri" pitchFamily="34" charset="-122"/>
                <a:cs typeface="Calibri" pitchFamily="34" charset="-120"/>
              </a:rPr>
              <a:t>Punto de entrada · genera el primer prompt</a:t>
            </a:r>
            <a:endParaRPr lang="en-US" sz="850" dirty="0"/>
          </a:p>
        </p:txBody>
      </p:sp>
      <p:sp>
        <p:nvSpPr>
          <p:cNvPr id="10" name="Shape 8"/>
          <p:cNvSpPr/>
          <p:nvPr/>
        </p:nvSpPr>
        <p:spPr>
          <a:xfrm>
            <a:off x="365760" y="1737360"/>
            <a:ext cx="329184" cy="329184"/>
          </a:xfrm>
          <a:prstGeom prst="ellipse">
            <a:avLst/>
          </a:prstGeom>
          <a:solidFill>
            <a:srgbClr val="0096B7">
              <a:alpha val="15000"/>
            </a:srgbClr>
          </a:solidFill>
          <a:ln w="12700">
            <a:solidFill>
              <a:srgbClr val="0096B7"/>
            </a:solidFill>
            <a:prstDash val="solid"/>
          </a:ln>
        </p:spPr>
      </p:sp>
      <p:sp>
        <p:nvSpPr>
          <p:cNvPr id="11" name="Text 9"/>
          <p:cNvSpPr/>
          <p:nvPr/>
        </p:nvSpPr>
        <p:spPr>
          <a:xfrm>
            <a:off x="365760" y="1737360"/>
            <a:ext cx="329184" cy="329184"/>
          </a:xfrm>
          <a:prstGeom prst="rect">
            <a:avLst/>
          </a:prstGeom>
          <a:noFill/>
          <a:ln/>
        </p:spPr>
        <p:txBody>
          <a:bodyPr wrap="square" lIns="0" tIns="0" rIns="0" bIns="0" rtlCol="0" anchor="ctr"/>
          <a:lstStyle/>
          <a:p>
            <a:pPr algn="ctr" indent="0" marL="0">
              <a:buNone/>
            </a:pPr>
            <a:r>
              <a:rPr lang="en-US" sz="800" b="1" dirty="0">
                <a:solidFill>
                  <a:srgbClr val="0096B7"/>
                </a:solidFill>
                <a:latin typeface="Calibri" pitchFamily="34" charset="0"/>
                <a:ea typeface="Calibri" pitchFamily="34" charset="-122"/>
                <a:cs typeface="Calibri" pitchFamily="34" charset="-120"/>
              </a:rPr>
              <a:t>01</a:t>
            </a:r>
            <a:endParaRPr lang="en-US" sz="800" dirty="0"/>
          </a:p>
        </p:txBody>
      </p:sp>
      <p:sp>
        <p:nvSpPr>
          <p:cNvPr id="12" name="Shape 10"/>
          <p:cNvSpPr/>
          <p:nvPr/>
        </p:nvSpPr>
        <p:spPr>
          <a:xfrm>
            <a:off x="530352" y="2066544"/>
            <a:ext cx="0" cy="356616"/>
          </a:xfrm>
          <a:prstGeom prst="line">
            <a:avLst/>
          </a:prstGeom>
          <a:noFill/>
          <a:ln w="19050">
            <a:solidFill>
              <a:srgbClr val="E4E4E4"/>
            </a:solidFill>
            <a:prstDash val="sysDot"/>
          </a:ln>
        </p:spPr>
      </p:sp>
      <p:sp>
        <p:nvSpPr>
          <p:cNvPr id="13" name="Text 11"/>
          <p:cNvSpPr/>
          <p:nvPr/>
        </p:nvSpPr>
        <p:spPr>
          <a:xfrm>
            <a:off x="822960" y="1737360"/>
            <a:ext cx="3931920" cy="201168"/>
          </a:xfrm>
          <a:prstGeom prst="rect">
            <a:avLst/>
          </a:prstGeom>
          <a:noFill/>
          <a:ln/>
        </p:spPr>
        <p:txBody>
          <a:bodyPr wrap="square" lIns="0" tIns="0" rIns="0" bIns="0" rtlCol="0" anchor="ctr"/>
          <a:lstStyle/>
          <a:p>
            <a:pPr indent="0" marL="0">
              <a:buNone/>
            </a:pPr>
            <a:r>
              <a:rPr lang="en-US" sz="1200" b="1" dirty="0">
                <a:solidFill>
                  <a:srgbClr val="333333"/>
                </a:solidFill>
                <a:latin typeface="Trebuchet MS" pitchFamily="34" charset="0"/>
                <a:ea typeface="Trebuchet MS" pitchFamily="34" charset="-122"/>
                <a:cs typeface="Trebuchet MS" pitchFamily="34" charset="-120"/>
              </a:rPr>
              <a:t>NotebookLM</a:t>
            </a:r>
            <a:endParaRPr lang="en-US" sz="1200" dirty="0"/>
          </a:p>
        </p:txBody>
      </p:sp>
      <p:sp>
        <p:nvSpPr>
          <p:cNvPr id="14" name="Text 12"/>
          <p:cNvSpPr/>
          <p:nvPr/>
        </p:nvSpPr>
        <p:spPr>
          <a:xfrm>
            <a:off x="822960" y="1938528"/>
            <a:ext cx="3931920" cy="182880"/>
          </a:xfrm>
          <a:prstGeom prst="rect">
            <a:avLst/>
          </a:prstGeom>
          <a:noFill/>
          <a:ln/>
        </p:spPr>
        <p:txBody>
          <a:bodyPr wrap="square" lIns="0" tIns="0" rIns="0" bIns="0" rtlCol="0" anchor="ctr"/>
          <a:lstStyle/>
          <a:p>
            <a:pPr indent="0" marL="0">
              <a:buNone/>
            </a:pPr>
            <a:r>
              <a:rPr lang="en-US" sz="850" dirty="0">
                <a:solidFill>
                  <a:srgbClr val="666666"/>
                </a:solidFill>
                <a:latin typeface="Calibri" pitchFamily="34" charset="0"/>
                <a:ea typeface="Calibri" pitchFamily="34" charset="-122"/>
                <a:cs typeface="Calibri" pitchFamily="34" charset="-120"/>
              </a:rPr>
              <a:t>Conversar con el estándar curricular</a:t>
            </a:r>
            <a:endParaRPr lang="en-US" sz="850" dirty="0"/>
          </a:p>
        </p:txBody>
      </p:sp>
      <p:sp>
        <p:nvSpPr>
          <p:cNvPr id="15" name="Shape 13"/>
          <p:cNvSpPr/>
          <p:nvPr/>
        </p:nvSpPr>
        <p:spPr>
          <a:xfrm>
            <a:off x="365760" y="2441448"/>
            <a:ext cx="329184" cy="329184"/>
          </a:xfrm>
          <a:prstGeom prst="ellipse">
            <a:avLst/>
          </a:prstGeom>
          <a:solidFill>
            <a:srgbClr val="2DC653">
              <a:alpha val="15000"/>
            </a:srgbClr>
          </a:solidFill>
          <a:ln w="12700">
            <a:solidFill>
              <a:srgbClr val="2DC653"/>
            </a:solidFill>
            <a:prstDash val="solid"/>
          </a:ln>
        </p:spPr>
      </p:sp>
      <p:sp>
        <p:nvSpPr>
          <p:cNvPr id="16" name="Text 14"/>
          <p:cNvSpPr/>
          <p:nvPr/>
        </p:nvSpPr>
        <p:spPr>
          <a:xfrm>
            <a:off x="365760" y="2441448"/>
            <a:ext cx="329184" cy="329184"/>
          </a:xfrm>
          <a:prstGeom prst="rect">
            <a:avLst/>
          </a:prstGeom>
          <a:noFill/>
          <a:ln/>
        </p:spPr>
        <p:txBody>
          <a:bodyPr wrap="square" lIns="0" tIns="0" rIns="0" bIns="0" rtlCol="0" anchor="ctr"/>
          <a:lstStyle/>
          <a:p>
            <a:pPr algn="ctr" indent="0" marL="0">
              <a:buNone/>
            </a:pPr>
            <a:r>
              <a:rPr lang="en-US" sz="800" b="1" dirty="0">
                <a:solidFill>
                  <a:srgbClr val="2DC653"/>
                </a:solidFill>
                <a:latin typeface="Calibri" pitchFamily="34" charset="0"/>
                <a:ea typeface="Calibri" pitchFamily="34" charset="-122"/>
                <a:cs typeface="Calibri" pitchFamily="34" charset="-120"/>
              </a:rPr>
              <a:t>02</a:t>
            </a:r>
            <a:endParaRPr lang="en-US" sz="800" dirty="0"/>
          </a:p>
        </p:txBody>
      </p:sp>
      <p:sp>
        <p:nvSpPr>
          <p:cNvPr id="17" name="Shape 15"/>
          <p:cNvSpPr/>
          <p:nvPr/>
        </p:nvSpPr>
        <p:spPr>
          <a:xfrm>
            <a:off x="530352" y="2770632"/>
            <a:ext cx="0" cy="356616"/>
          </a:xfrm>
          <a:prstGeom prst="line">
            <a:avLst/>
          </a:prstGeom>
          <a:noFill/>
          <a:ln w="19050">
            <a:solidFill>
              <a:srgbClr val="E4E4E4"/>
            </a:solidFill>
            <a:prstDash val="sysDot"/>
          </a:ln>
        </p:spPr>
      </p:sp>
      <p:sp>
        <p:nvSpPr>
          <p:cNvPr id="18" name="Text 16"/>
          <p:cNvSpPr/>
          <p:nvPr/>
        </p:nvSpPr>
        <p:spPr>
          <a:xfrm>
            <a:off x="822960" y="2441448"/>
            <a:ext cx="3931920" cy="201168"/>
          </a:xfrm>
          <a:prstGeom prst="rect">
            <a:avLst/>
          </a:prstGeom>
          <a:noFill/>
          <a:ln/>
        </p:spPr>
        <p:txBody>
          <a:bodyPr wrap="square" lIns="0" tIns="0" rIns="0" bIns="0" rtlCol="0" anchor="ctr"/>
          <a:lstStyle/>
          <a:p>
            <a:pPr indent="0" marL="0">
              <a:buNone/>
            </a:pPr>
            <a:r>
              <a:rPr lang="en-US" sz="1200" b="1" dirty="0">
                <a:solidFill>
                  <a:srgbClr val="333333"/>
                </a:solidFill>
                <a:latin typeface="Trebuchet MS" pitchFamily="34" charset="0"/>
                <a:ea typeface="Trebuchet MS" pitchFamily="34" charset="-122"/>
                <a:cs typeface="Trebuchet MS" pitchFamily="34" charset="-120"/>
              </a:rPr>
              <a:t>Magisterium AI</a:t>
            </a:r>
            <a:endParaRPr lang="en-US" sz="1200" dirty="0"/>
          </a:p>
        </p:txBody>
      </p:sp>
      <p:sp>
        <p:nvSpPr>
          <p:cNvPr id="19" name="Text 17"/>
          <p:cNvSpPr/>
          <p:nvPr/>
        </p:nvSpPr>
        <p:spPr>
          <a:xfrm>
            <a:off x="822960" y="2642616"/>
            <a:ext cx="3931920" cy="182880"/>
          </a:xfrm>
          <a:prstGeom prst="rect">
            <a:avLst/>
          </a:prstGeom>
          <a:noFill/>
          <a:ln/>
        </p:spPr>
        <p:txBody>
          <a:bodyPr wrap="square" lIns="0" tIns="0" rIns="0" bIns="0" rtlCol="0" anchor="ctr"/>
          <a:lstStyle/>
          <a:p>
            <a:pPr indent="0" marL="0">
              <a:buNone/>
            </a:pPr>
            <a:r>
              <a:rPr lang="en-US" sz="850" dirty="0">
                <a:solidFill>
                  <a:srgbClr val="666666"/>
                </a:solidFill>
                <a:latin typeface="Calibri" pitchFamily="34" charset="0"/>
                <a:ea typeface="Calibri" pitchFamily="34" charset="-122"/>
                <a:cs typeface="Calibri" pitchFamily="34" charset="-120"/>
              </a:rPr>
              <a:t>Validar fuentes doctrinales</a:t>
            </a:r>
            <a:endParaRPr lang="en-US" sz="850" dirty="0"/>
          </a:p>
        </p:txBody>
      </p:sp>
      <p:sp>
        <p:nvSpPr>
          <p:cNvPr id="20" name="Shape 18"/>
          <p:cNvSpPr/>
          <p:nvPr/>
        </p:nvSpPr>
        <p:spPr>
          <a:xfrm>
            <a:off x="365760" y="3145536"/>
            <a:ext cx="329184" cy="329184"/>
          </a:xfrm>
          <a:prstGeom prst="ellipse">
            <a:avLst/>
          </a:prstGeom>
          <a:solidFill>
            <a:srgbClr val="7B5EA7">
              <a:alpha val="15000"/>
            </a:srgbClr>
          </a:solidFill>
          <a:ln w="12700">
            <a:solidFill>
              <a:srgbClr val="7B5EA7"/>
            </a:solidFill>
            <a:prstDash val="solid"/>
          </a:ln>
        </p:spPr>
      </p:sp>
      <p:sp>
        <p:nvSpPr>
          <p:cNvPr id="21" name="Text 19"/>
          <p:cNvSpPr/>
          <p:nvPr/>
        </p:nvSpPr>
        <p:spPr>
          <a:xfrm>
            <a:off x="365760" y="3145536"/>
            <a:ext cx="329184" cy="329184"/>
          </a:xfrm>
          <a:prstGeom prst="rect">
            <a:avLst/>
          </a:prstGeom>
          <a:noFill/>
          <a:ln/>
        </p:spPr>
        <p:txBody>
          <a:bodyPr wrap="square" lIns="0" tIns="0" rIns="0" bIns="0" rtlCol="0" anchor="ctr"/>
          <a:lstStyle/>
          <a:p>
            <a:pPr algn="ctr" indent="0" marL="0">
              <a:buNone/>
            </a:pPr>
            <a:r>
              <a:rPr lang="en-US" sz="800" b="1" dirty="0">
                <a:solidFill>
                  <a:srgbClr val="7B5EA7"/>
                </a:solidFill>
                <a:latin typeface="Calibri" pitchFamily="34" charset="0"/>
                <a:ea typeface="Calibri" pitchFamily="34" charset="-122"/>
                <a:cs typeface="Calibri" pitchFamily="34" charset="-120"/>
              </a:rPr>
              <a:t>03</a:t>
            </a:r>
            <a:endParaRPr lang="en-US" sz="800" dirty="0"/>
          </a:p>
        </p:txBody>
      </p:sp>
      <p:sp>
        <p:nvSpPr>
          <p:cNvPr id="22" name="Shape 20"/>
          <p:cNvSpPr/>
          <p:nvPr/>
        </p:nvSpPr>
        <p:spPr>
          <a:xfrm>
            <a:off x="530352" y="3474720"/>
            <a:ext cx="0" cy="356616"/>
          </a:xfrm>
          <a:prstGeom prst="line">
            <a:avLst/>
          </a:prstGeom>
          <a:noFill/>
          <a:ln w="19050">
            <a:solidFill>
              <a:srgbClr val="E4E4E4"/>
            </a:solidFill>
            <a:prstDash val="sysDot"/>
          </a:ln>
        </p:spPr>
      </p:sp>
      <p:sp>
        <p:nvSpPr>
          <p:cNvPr id="23" name="Text 21"/>
          <p:cNvSpPr/>
          <p:nvPr/>
        </p:nvSpPr>
        <p:spPr>
          <a:xfrm>
            <a:off x="822960" y="3145536"/>
            <a:ext cx="3931920" cy="201168"/>
          </a:xfrm>
          <a:prstGeom prst="rect">
            <a:avLst/>
          </a:prstGeom>
          <a:noFill/>
          <a:ln/>
        </p:spPr>
        <p:txBody>
          <a:bodyPr wrap="square" lIns="0" tIns="0" rIns="0" bIns="0" rtlCol="0" anchor="ctr"/>
          <a:lstStyle/>
          <a:p>
            <a:pPr indent="0" marL="0">
              <a:buNone/>
            </a:pPr>
            <a:r>
              <a:rPr lang="en-US" sz="1200" b="1" dirty="0">
                <a:solidFill>
                  <a:srgbClr val="333333"/>
                </a:solidFill>
                <a:latin typeface="Trebuchet MS" pitchFamily="34" charset="0"/>
                <a:ea typeface="Trebuchet MS" pitchFamily="34" charset="-122"/>
                <a:cs typeface="Trebuchet MS" pitchFamily="34" charset="-120"/>
              </a:rPr>
              <a:t>Brief + Prompt</a:t>
            </a:r>
            <a:endParaRPr lang="en-US" sz="1200" dirty="0"/>
          </a:p>
        </p:txBody>
      </p:sp>
      <p:sp>
        <p:nvSpPr>
          <p:cNvPr id="24" name="Text 22"/>
          <p:cNvSpPr/>
          <p:nvPr/>
        </p:nvSpPr>
        <p:spPr>
          <a:xfrm>
            <a:off x="822960" y="3346704"/>
            <a:ext cx="3931920" cy="182880"/>
          </a:xfrm>
          <a:prstGeom prst="rect">
            <a:avLst/>
          </a:prstGeom>
          <a:noFill/>
          <a:ln/>
        </p:spPr>
        <p:txBody>
          <a:bodyPr wrap="square" lIns="0" tIns="0" rIns="0" bIns="0" rtlCol="0" anchor="ctr"/>
          <a:lstStyle/>
          <a:p>
            <a:pPr indent="0" marL="0">
              <a:buNone/>
            </a:pPr>
            <a:r>
              <a:rPr lang="en-US" sz="850" dirty="0">
                <a:solidFill>
                  <a:srgbClr val="666666"/>
                </a:solidFill>
                <a:latin typeface="Calibri" pitchFamily="34" charset="0"/>
                <a:ea typeface="Calibri" pitchFamily="34" charset="-122"/>
                <a:cs typeface="Calibri" pitchFamily="34" charset="-120"/>
              </a:rPr>
              <a:t>NotebookLM consolida y genera el prompt</a:t>
            </a:r>
            <a:endParaRPr lang="en-US" sz="850" dirty="0"/>
          </a:p>
        </p:txBody>
      </p:sp>
      <p:sp>
        <p:nvSpPr>
          <p:cNvPr id="25" name="Shape 23"/>
          <p:cNvSpPr/>
          <p:nvPr/>
        </p:nvSpPr>
        <p:spPr>
          <a:xfrm>
            <a:off x="365760" y="3849624"/>
            <a:ext cx="329184" cy="329184"/>
          </a:xfrm>
          <a:prstGeom prst="ellipse">
            <a:avLst/>
          </a:prstGeom>
          <a:solidFill>
            <a:srgbClr val="F4A01C">
              <a:alpha val="15000"/>
            </a:srgbClr>
          </a:solidFill>
          <a:ln w="12700">
            <a:solidFill>
              <a:srgbClr val="F4A01C"/>
            </a:solidFill>
            <a:prstDash val="solid"/>
          </a:ln>
        </p:spPr>
      </p:sp>
      <p:sp>
        <p:nvSpPr>
          <p:cNvPr id="26" name="Text 24"/>
          <p:cNvSpPr/>
          <p:nvPr/>
        </p:nvSpPr>
        <p:spPr>
          <a:xfrm>
            <a:off x="365760" y="3849624"/>
            <a:ext cx="329184" cy="329184"/>
          </a:xfrm>
          <a:prstGeom prst="rect">
            <a:avLst/>
          </a:prstGeom>
          <a:noFill/>
          <a:ln/>
        </p:spPr>
        <p:txBody>
          <a:bodyPr wrap="square" lIns="0" tIns="0" rIns="0" bIns="0" rtlCol="0" anchor="ctr"/>
          <a:lstStyle/>
          <a:p>
            <a:pPr algn="ctr" indent="0" marL="0">
              <a:buNone/>
            </a:pPr>
            <a:r>
              <a:rPr lang="en-US" sz="800" b="1" dirty="0">
                <a:solidFill>
                  <a:srgbClr val="F4A01C"/>
                </a:solidFill>
                <a:latin typeface="Calibri" pitchFamily="34" charset="0"/>
                <a:ea typeface="Calibri" pitchFamily="34" charset="-122"/>
                <a:cs typeface="Calibri" pitchFamily="34" charset="-120"/>
              </a:rPr>
              <a:t>04</a:t>
            </a:r>
            <a:endParaRPr lang="en-US" sz="800" dirty="0"/>
          </a:p>
        </p:txBody>
      </p:sp>
      <p:sp>
        <p:nvSpPr>
          <p:cNvPr id="27" name="Text 25"/>
          <p:cNvSpPr/>
          <p:nvPr/>
        </p:nvSpPr>
        <p:spPr>
          <a:xfrm>
            <a:off x="822960" y="3849624"/>
            <a:ext cx="3931920" cy="201168"/>
          </a:xfrm>
          <a:prstGeom prst="rect">
            <a:avLst/>
          </a:prstGeom>
          <a:noFill/>
          <a:ln/>
        </p:spPr>
        <p:txBody>
          <a:bodyPr wrap="square" lIns="0" tIns="0" rIns="0" bIns="0" rtlCol="0" anchor="ctr"/>
          <a:lstStyle/>
          <a:p>
            <a:pPr indent="0" marL="0">
              <a:buNone/>
            </a:pPr>
            <a:r>
              <a:rPr lang="en-US" sz="1200" b="1" dirty="0">
                <a:solidFill>
                  <a:srgbClr val="333333"/>
                </a:solidFill>
                <a:latin typeface="Trebuchet MS" pitchFamily="34" charset="0"/>
                <a:ea typeface="Trebuchet MS" pitchFamily="34" charset="-122"/>
                <a:cs typeface="Trebuchet MS" pitchFamily="34" charset="-120"/>
              </a:rPr>
              <a:t>CopilotERE / MagicSchool</a:t>
            </a:r>
            <a:endParaRPr lang="en-US" sz="1200" dirty="0"/>
          </a:p>
        </p:txBody>
      </p:sp>
      <p:sp>
        <p:nvSpPr>
          <p:cNvPr id="28" name="Text 26"/>
          <p:cNvSpPr/>
          <p:nvPr/>
        </p:nvSpPr>
        <p:spPr>
          <a:xfrm>
            <a:off x="822960" y="4050792"/>
            <a:ext cx="3931920" cy="182880"/>
          </a:xfrm>
          <a:prstGeom prst="rect">
            <a:avLst/>
          </a:prstGeom>
          <a:noFill/>
          <a:ln/>
        </p:spPr>
        <p:txBody>
          <a:bodyPr wrap="square" lIns="0" tIns="0" rIns="0" bIns="0" rtlCol="0" anchor="ctr"/>
          <a:lstStyle/>
          <a:p>
            <a:pPr indent="0" marL="0">
              <a:buNone/>
            </a:pPr>
            <a:r>
              <a:rPr lang="en-US" sz="850" dirty="0">
                <a:solidFill>
                  <a:srgbClr val="666666"/>
                </a:solidFill>
                <a:latin typeface="Calibri" pitchFamily="34" charset="0"/>
                <a:ea typeface="Calibri" pitchFamily="34" charset="-122"/>
                <a:cs typeface="Calibri" pitchFamily="34" charset="-120"/>
              </a:rPr>
              <a:t>Diseñar la experiencia de aprendizaje</a:t>
            </a:r>
            <a:endParaRPr lang="en-US" sz="850" dirty="0"/>
          </a:p>
        </p:txBody>
      </p:sp>
      <p:sp>
        <p:nvSpPr>
          <p:cNvPr id="29" name="Shape 27"/>
          <p:cNvSpPr/>
          <p:nvPr/>
        </p:nvSpPr>
        <p:spPr>
          <a:xfrm>
            <a:off x="5120640" y="960120"/>
            <a:ext cx="3657600" cy="512064"/>
          </a:xfrm>
          <a:prstGeom prst="rect">
            <a:avLst/>
          </a:prstGeom>
          <a:solidFill>
            <a:srgbClr val="FFFFFF"/>
          </a:solidFill>
          <a:ln w="15240">
            <a:solidFill>
              <a:srgbClr val="00B4D8"/>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5120640" y="960120"/>
            <a:ext cx="45720" cy="512064"/>
          </a:xfrm>
          <a:prstGeom prst="rect">
            <a:avLst/>
          </a:prstGeom>
          <a:solidFill>
            <a:srgbClr val="00B4D8"/>
          </a:solidFill>
          <a:ln w="12700">
            <a:solidFill>
              <a:srgbClr val="00B4D8"/>
            </a:solidFill>
            <a:prstDash val="solid"/>
          </a:ln>
        </p:spPr>
      </p:sp>
      <p:sp>
        <p:nvSpPr>
          <p:cNvPr id="31" name="Text 29"/>
          <p:cNvSpPr/>
          <p:nvPr/>
        </p:nvSpPr>
        <p:spPr>
          <a:xfrm>
            <a:off x="5257800" y="960120"/>
            <a:ext cx="3474720" cy="512064"/>
          </a:xfrm>
          <a:prstGeom prst="rect">
            <a:avLst/>
          </a:prstGeom>
          <a:noFill/>
          <a:ln/>
        </p:spPr>
        <p:txBody>
          <a:bodyPr wrap="square" lIns="0" tIns="0" rIns="0" bIns="0" rtlCol="0" anchor="ctr"/>
          <a:lstStyle/>
          <a:p>
            <a:pPr indent="0" marL="0">
              <a:buNone/>
            </a:pPr>
            <a:r>
              <a:rPr lang="en-US" sz="1050" b="1" dirty="0">
                <a:solidFill>
                  <a:srgbClr val="333333"/>
                </a:solidFill>
                <a:latin typeface="Trebuchet MS" pitchFamily="34" charset="0"/>
                <a:ea typeface="Trebuchet MS" pitchFamily="34" charset="-122"/>
                <a:cs typeface="Trebuchet MS" pitchFamily="34" charset="-120"/>
              </a:rPr>
              <a:t>📖  Libro</a:t>
            </a:r>
            <a:endParaRPr lang="en-US" sz="1050" dirty="0"/>
          </a:p>
        </p:txBody>
      </p:sp>
      <p:sp>
        <p:nvSpPr>
          <p:cNvPr id="32" name="Shape 30"/>
          <p:cNvSpPr/>
          <p:nvPr/>
        </p:nvSpPr>
        <p:spPr>
          <a:xfrm>
            <a:off x="6949440" y="1472184"/>
            <a:ext cx="0" cy="109728"/>
          </a:xfrm>
          <a:prstGeom prst="line">
            <a:avLst/>
          </a:prstGeom>
          <a:noFill/>
          <a:ln w="19050">
            <a:solidFill>
              <a:srgbClr val="00B4D8"/>
            </a:solidFill>
            <a:prstDash val="solid"/>
          </a:ln>
        </p:spPr>
      </p:sp>
      <p:sp>
        <p:nvSpPr>
          <p:cNvPr id="33" name="Shape 31"/>
          <p:cNvSpPr/>
          <p:nvPr/>
        </p:nvSpPr>
        <p:spPr>
          <a:xfrm>
            <a:off x="5120640" y="1581912"/>
            <a:ext cx="3657600" cy="512064"/>
          </a:xfrm>
          <a:prstGeom prst="rect">
            <a:avLst/>
          </a:prstGeom>
          <a:solidFill>
            <a:srgbClr val="FFFFFF"/>
          </a:solidFill>
          <a:ln w="15240">
            <a:solidFill>
              <a:srgbClr val="0096B7"/>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5120640" y="1581912"/>
            <a:ext cx="45720" cy="512064"/>
          </a:xfrm>
          <a:prstGeom prst="rect">
            <a:avLst/>
          </a:prstGeom>
          <a:solidFill>
            <a:srgbClr val="0096B7"/>
          </a:solidFill>
          <a:ln w="12700">
            <a:solidFill>
              <a:srgbClr val="0096B7"/>
            </a:solidFill>
            <a:prstDash val="solid"/>
          </a:ln>
        </p:spPr>
      </p:sp>
      <p:sp>
        <p:nvSpPr>
          <p:cNvPr id="35" name="Text 33"/>
          <p:cNvSpPr/>
          <p:nvPr/>
        </p:nvSpPr>
        <p:spPr>
          <a:xfrm>
            <a:off x="5257800" y="1581912"/>
            <a:ext cx="3474720" cy="512064"/>
          </a:xfrm>
          <a:prstGeom prst="rect">
            <a:avLst/>
          </a:prstGeom>
          <a:noFill/>
          <a:ln/>
        </p:spPr>
        <p:txBody>
          <a:bodyPr wrap="square" lIns="0" tIns="0" rIns="0" bIns="0" rtlCol="0" anchor="ctr"/>
          <a:lstStyle/>
          <a:p>
            <a:pPr indent="0" marL="0">
              <a:buNone/>
            </a:pPr>
            <a:r>
              <a:rPr lang="en-US" sz="1050" b="1" dirty="0">
                <a:solidFill>
                  <a:srgbClr val="333333"/>
                </a:solidFill>
                <a:latin typeface="Trebuchet MS" pitchFamily="34" charset="0"/>
                <a:ea typeface="Trebuchet MS" pitchFamily="34" charset="-122"/>
                <a:cs typeface="Trebuchet MS" pitchFamily="34" charset="-120"/>
              </a:rPr>
              <a:t>🗂️  NotebookLM</a:t>
            </a:r>
            <a:endParaRPr lang="en-US" sz="1050" dirty="0"/>
          </a:p>
        </p:txBody>
      </p:sp>
      <p:sp>
        <p:nvSpPr>
          <p:cNvPr id="36" name="Shape 34"/>
          <p:cNvSpPr/>
          <p:nvPr/>
        </p:nvSpPr>
        <p:spPr>
          <a:xfrm>
            <a:off x="6949440" y="2093976"/>
            <a:ext cx="0" cy="109728"/>
          </a:xfrm>
          <a:prstGeom prst="line">
            <a:avLst/>
          </a:prstGeom>
          <a:noFill/>
          <a:ln w="19050">
            <a:solidFill>
              <a:srgbClr val="0096B7"/>
            </a:solidFill>
            <a:prstDash val="solid"/>
          </a:ln>
        </p:spPr>
      </p:sp>
      <p:sp>
        <p:nvSpPr>
          <p:cNvPr id="37" name="Shape 35"/>
          <p:cNvSpPr/>
          <p:nvPr/>
        </p:nvSpPr>
        <p:spPr>
          <a:xfrm>
            <a:off x="5120640" y="2203704"/>
            <a:ext cx="3657600" cy="512064"/>
          </a:xfrm>
          <a:prstGeom prst="rect">
            <a:avLst/>
          </a:prstGeom>
          <a:solidFill>
            <a:srgbClr val="FFFFFF"/>
          </a:solidFill>
          <a:ln w="15240">
            <a:solidFill>
              <a:srgbClr val="2DC653"/>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5120640" y="2203704"/>
            <a:ext cx="45720" cy="512064"/>
          </a:xfrm>
          <a:prstGeom prst="rect">
            <a:avLst/>
          </a:prstGeom>
          <a:solidFill>
            <a:srgbClr val="2DC653"/>
          </a:solidFill>
          <a:ln w="12700">
            <a:solidFill>
              <a:srgbClr val="2DC653"/>
            </a:solidFill>
            <a:prstDash val="solid"/>
          </a:ln>
        </p:spPr>
      </p:sp>
      <p:sp>
        <p:nvSpPr>
          <p:cNvPr id="39" name="Text 37"/>
          <p:cNvSpPr/>
          <p:nvPr/>
        </p:nvSpPr>
        <p:spPr>
          <a:xfrm>
            <a:off x="5257800" y="2203704"/>
            <a:ext cx="3474720" cy="512064"/>
          </a:xfrm>
          <a:prstGeom prst="rect">
            <a:avLst/>
          </a:prstGeom>
          <a:noFill/>
          <a:ln/>
        </p:spPr>
        <p:txBody>
          <a:bodyPr wrap="square" lIns="0" tIns="0" rIns="0" bIns="0" rtlCol="0" anchor="ctr"/>
          <a:lstStyle/>
          <a:p>
            <a:pPr indent="0" marL="0">
              <a:buNone/>
            </a:pPr>
            <a:r>
              <a:rPr lang="en-US" sz="1050" b="1" dirty="0">
                <a:solidFill>
                  <a:srgbClr val="333333"/>
                </a:solidFill>
                <a:latin typeface="Trebuchet MS" pitchFamily="34" charset="0"/>
                <a:ea typeface="Trebuchet MS" pitchFamily="34" charset="-122"/>
                <a:cs typeface="Trebuchet MS" pitchFamily="34" charset="-120"/>
              </a:rPr>
              <a:t>✝️  Magisterium AI</a:t>
            </a:r>
            <a:endParaRPr lang="en-US" sz="1050" dirty="0"/>
          </a:p>
        </p:txBody>
      </p:sp>
      <p:sp>
        <p:nvSpPr>
          <p:cNvPr id="40" name="Shape 38"/>
          <p:cNvSpPr/>
          <p:nvPr/>
        </p:nvSpPr>
        <p:spPr>
          <a:xfrm>
            <a:off x="6949440" y="2715768"/>
            <a:ext cx="0" cy="109728"/>
          </a:xfrm>
          <a:prstGeom prst="line">
            <a:avLst/>
          </a:prstGeom>
          <a:noFill/>
          <a:ln w="19050">
            <a:solidFill>
              <a:srgbClr val="2DC653"/>
            </a:solidFill>
            <a:prstDash val="solid"/>
          </a:ln>
        </p:spPr>
      </p:sp>
      <p:sp>
        <p:nvSpPr>
          <p:cNvPr id="41" name="Shape 39"/>
          <p:cNvSpPr/>
          <p:nvPr/>
        </p:nvSpPr>
        <p:spPr>
          <a:xfrm>
            <a:off x="5120640" y="2825496"/>
            <a:ext cx="3657600" cy="512064"/>
          </a:xfrm>
          <a:prstGeom prst="rect">
            <a:avLst/>
          </a:prstGeom>
          <a:solidFill>
            <a:srgbClr val="FFFFFF"/>
          </a:solidFill>
          <a:ln w="15240">
            <a:solidFill>
              <a:srgbClr val="7B5EA7"/>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5120640" y="2825496"/>
            <a:ext cx="45720" cy="512064"/>
          </a:xfrm>
          <a:prstGeom prst="rect">
            <a:avLst/>
          </a:prstGeom>
          <a:solidFill>
            <a:srgbClr val="7B5EA7"/>
          </a:solidFill>
          <a:ln w="12700">
            <a:solidFill>
              <a:srgbClr val="7B5EA7"/>
            </a:solidFill>
            <a:prstDash val="solid"/>
          </a:ln>
        </p:spPr>
      </p:sp>
      <p:sp>
        <p:nvSpPr>
          <p:cNvPr id="43" name="Text 41"/>
          <p:cNvSpPr/>
          <p:nvPr/>
        </p:nvSpPr>
        <p:spPr>
          <a:xfrm>
            <a:off x="5257800" y="2825496"/>
            <a:ext cx="3474720" cy="512064"/>
          </a:xfrm>
          <a:prstGeom prst="rect">
            <a:avLst/>
          </a:prstGeom>
          <a:noFill/>
          <a:ln/>
        </p:spPr>
        <p:txBody>
          <a:bodyPr wrap="square" lIns="0" tIns="0" rIns="0" bIns="0" rtlCol="0" anchor="ctr"/>
          <a:lstStyle/>
          <a:p>
            <a:pPr indent="0" marL="0">
              <a:buNone/>
            </a:pPr>
            <a:r>
              <a:rPr lang="en-US" sz="1050" b="1" dirty="0">
                <a:solidFill>
                  <a:srgbClr val="333333"/>
                </a:solidFill>
                <a:latin typeface="Trebuchet MS" pitchFamily="34" charset="0"/>
                <a:ea typeface="Trebuchet MS" pitchFamily="34" charset="-122"/>
                <a:cs typeface="Trebuchet MS" pitchFamily="34" charset="-120"/>
              </a:rPr>
              <a:t>✨  Brief + Prompt</a:t>
            </a:r>
            <a:endParaRPr lang="en-US" sz="1050" dirty="0"/>
          </a:p>
        </p:txBody>
      </p:sp>
      <p:sp>
        <p:nvSpPr>
          <p:cNvPr id="44" name="Shape 42"/>
          <p:cNvSpPr/>
          <p:nvPr/>
        </p:nvSpPr>
        <p:spPr>
          <a:xfrm>
            <a:off x="6949440" y="3337560"/>
            <a:ext cx="0" cy="109728"/>
          </a:xfrm>
          <a:prstGeom prst="line">
            <a:avLst/>
          </a:prstGeom>
          <a:noFill/>
          <a:ln w="19050">
            <a:solidFill>
              <a:srgbClr val="7B5EA7"/>
            </a:solidFill>
            <a:prstDash val="solid"/>
          </a:ln>
        </p:spPr>
      </p:sp>
      <p:sp>
        <p:nvSpPr>
          <p:cNvPr id="45" name="Shape 43"/>
          <p:cNvSpPr/>
          <p:nvPr/>
        </p:nvSpPr>
        <p:spPr>
          <a:xfrm>
            <a:off x="5120640" y="3447288"/>
            <a:ext cx="3657600" cy="512064"/>
          </a:xfrm>
          <a:prstGeom prst="rect">
            <a:avLst/>
          </a:prstGeom>
          <a:solidFill>
            <a:srgbClr val="FFFFFF"/>
          </a:solidFill>
          <a:ln w="15240">
            <a:solidFill>
              <a:srgbClr val="F4A01C"/>
            </a:solidFill>
            <a:prstDash val="solid"/>
          </a:ln>
          <a:effectLst>
            <a:outerShdw sx="100000" sy="100000" kx="0" ky="0" algn="bl" rotWithShape="0" blurRad="101600" dist="38100" dir="8100000">
              <a:srgbClr val="000000">
                <a:alpha val="12000"/>
              </a:srgbClr>
            </a:outerShdw>
          </a:effectLst>
        </p:spPr>
      </p:sp>
      <p:sp>
        <p:nvSpPr>
          <p:cNvPr id="46" name="Shape 44"/>
          <p:cNvSpPr/>
          <p:nvPr/>
        </p:nvSpPr>
        <p:spPr>
          <a:xfrm>
            <a:off x="5120640" y="3447288"/>
            <a:ext cx="45720" cy="512064"/>
          </a:xfrm>
          <a:prstGeom prst="rect">
            <a:avLst/>
          </a:prstGeom>
          <a:solidFill>
            <a:srgbClr val="F4A01C"/>
          </a:solidFill>
          <a:ln w="12700">
            <a:solidFill>
              <a:srgbClr val="F4A01C"/>
            </a:solidFill>
            <a:prstDash val="solid"/>
          </a:ln>
        </p:spPr>
      </p:sp>
      <p:sp>
        <p:nvSpPr>
          <p:cNvPr id="47" name="Text 45"/>
          <p:cNvSpPr/>
          <p:nvPr/>
        </p:nvSpPr>
        <p:spPr>
          <a:xfrm>
            <a:off x="5257800" y="3447288"/>
            <a:ext cx="3474720" cy="512064"/>
          </a:xfrm>
          <a:prstGeom prst="rect">
            <a:avLst/>
          </a:prstGeom>
          <a:noFill/>
          <a:ln/>
        </p:spPr>
        <p:txBody>
          <a:bodyPr wrap="square" lIns="0" tIns="0" rIns="0" bIns="0" rtlCol="0" anchor="ctr"/>
          <a:lstStyle/>
          <a:p>
            <a:pPr indent="0" marL="0">
              <a:buNone/>
            </a:pPr>
            <a:r>
              <a:rPr lang="en-US" sz="1050" b="1" dirty="0">
                <a:solidFill>
                  <a:srgbClr val="333333"/>
                </a:solidFill>
                <a:latin typeface="Trebuchet MS" pitchFamily="34" charset="0"/>
                <a:ea typeface="Trebuchet MS" pitchFamily="34" charset="-122"/>
                <a:cs typeface="Trebuchet MS" pitchFamily="34" charset="-120"/>
              </a:rPr>
              <a:t>🤖  CopilotERE / MagicSchool</a:t>
            </a:r>
            <a:endParaRPr lang="en-US" sz="1050" dirty="0"/>
          </a:p>
        </p:txBody>
      </p:sp>
      <p:sp>
        <p:nvSpPr>
          <p:cNvPr id="48" name="Shape 46"/>
          <p:cNvSpPr/>
          <p:nvPr/>
        </p:nvSpPr>
        <p:spPr>
          <a:xfrm>
            <a:off x="5120640" y="2212848"/>
            <a:ext cx="2999232" cy="201168"/>
          </a:xfrm>
          <a:prstGeom prst="rect">
            <a:avLst/>
          </a:prstGeom>
          <a:solidFill>
            <a:srgbClr val="F0FBFF"/>
          </a:solidFill>
          <a:ln w="6350">
            <a:solidFill>
              <a:srgbClr val="CAF0F8"/>
            </a:solidFill>
            <a:prstDash val="solid"/>
          </a:ln>
        </p:spPr>
      </p:sp>
      <p:sp>
        <p:nvSpPr>
          <p:cNvPr id="49" name="Text 47"/>
          <p:cNvSpPr/>
          <p:nvPr/>
        </p:nvSpPr>
        <p:spPr>
          <a:xfrm>
            <a:off x="5175504" y="2212848"/>
            <a:ext cx="2999232" cy="201168"/>
          </a:xfrm>
          <a:prstGeom prst="rect">
            <a:avLst/>
          </a:prstGeom>
          <a:noFill/>
          <a:ln/>
        </p:spPr>
        <p:txBody>
          <a:bodyPr wrap="square" lIns="0" tIns="0" rIns="0" bIns="0" rtlCol="0" anchor="ctr"/>
          <a:lstStyle/>
          <a:p>
            <a:pPr indent="0" marL="0">
              <a:buNone/>
            </a:pPr>
            <a:r>
              <a:rPr lang="en-US" sz="750" dirty="0">
                <a:solidFill>
                  <a:srgbClr val="0096B7"/>
                </a:solidFill>
                <a:latin typeface="Calibri" pitchFamily="34" charset="0"/>
                <a:ea typeface="Calibri" pitchFamily="34" charset="-122"/>
                <a:cs typeface="Calibri" pitchFamily="34" charset="-120"/>
              </a:rPr>
              <a:t>⇄ libro como respaldo durante la iteración</a:t>
            </a:r>
            <a:endParaRPr lang="en-US" sz="750" dirty="0"/>
          </a:p>
        </p:txBody>
      </p:sp>
      <p:sp>
        <p:nvSpPr>
          <p:cNvPr id="50" name="Shape 48"/>
          <p:cNvSpPr/>
          <p:nvPr/>
        </p:nvSpPr>
        <p:spPr>
          <a:xfrm>
            <a:off x="365760" y="4553712"/>
            <a:ext cx="8412480" cy="246888"/>
          </a:xfrm>
          <a:prstGeom prst="rect">
            <a:avLst/>
          </a:prstGeom>
          <a:solidFill>
            <a:srgbClr val="FFF5F5"/>
          </a:solidFill>
          <a:ln w="6350">
            <a:solidFill>
              <a:srgbClr val="FFCDD2"/>
            </a:solidFill>
            <a:prstDash val="solid"/>
          </a:ln>
        </p:spPr>
      </p:sp>
      <p:sp>
        <p:nvSpPr>
          <p:cNvPr id="51" name="Text 49"/>
          <p:cNvSpPr/>
          <p:nvPr/>
        </p:nvSpPr>
        <p:spPr>
          <a:xfrm>
            <a:off x="365760" y="4553712"/>
            <a:ext cx="8412480" cy="246888"/>
          </a:xfrm>
          <a:prstGeom prst="rect">
            <a:avLst/>
          </a:prstGeom>
          <a:noFill/>
          <a:ln/>
        </p:spPr>
        <p:txBody>
          <a:bodyPr wrap="square" lIns="0" tIns="0" rIns="0" bIns="0" rtlCol="0" anchor="ctr"/>
          <a:lstStyle/>
          <a:p>
            <a:pPr algn="ctr" indent="0" marL="0">
              <a:buNone/>
            </a:pPr>
            <a:r>
              <a:rPr lang="en-US" sz="900" b="1" dirty="0">
                <a:solidFill>
                  <a:srgbClr val="E05C5C"/>
                </a:solidFill>
                <a:latin typeface="Calibri" pitchFamily="34" charset="0"/>
                <a:ea typeface="Calibri" pitchFamily="34" charset="-122"/>
                <a:cs typeface="Calibri" pitchFamily="34" charset="-120"/>
              </a:rPr>
              <a:t>⚠  Revisión humana transversal — el docente valida cada output antes de avanzar</a:t>
            </a:r>
            <a:endParaRPr lang="en-US" sz="900" dirty="0"/>
          </a:p>
        </p:txBody>
      </p:sp>
      <p:sp>
        <p:nvSpPr>
          <p:cNvPr id="52" name="Text 50"/>
          <p:cNvSpPr/>
          <p:nvPr/>
        </p:nvSpPr>
        <p:spPr>
          <a:xfrm>
            <a:off x="365760" y="4892040"/>
            <a:ext cx="1828800" cy="201168"/>
          </a:xfrm>
          <a:prstGeom prst="rect">
            <a:avLst/>
          </a:prstGeom>
          <a:noFill/>
          <a:ln/>
        </p:spPr>
        <p:txBody>
          <a:bodyPr wrap="square" lIns="0" tIns="0" rIns="0" bIns="0" rtlCol="0" anchor="ctr"/>
          <a:lstStyle/>
          <a:p>
            <a:pPr indent="0" marL="0">
              <a:buNone/>
            </a:pPr>
            <a:r>
              <a:rPr lang="en-US" sz="800" dirty="0">
                <a:solidFill>
                  <a:srgbClr val="00B4D8"/>
                </a:solidFill>
                <a:latin typeface="Trebuchet MS" pitchFamily="34" charset="0"/>
                <a:ea typeface="Trebuchet MS" pitchFamily="34" charset="-122"/>
                <a:cs typeface="Trebuchet MS" pitchFamily="34" charset="-120"/>
              </a:rPr>
              <a:t>ETB.education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4D8"/>
          </a:solidFill>
          <a:ln w="12700">
            <a:solidFill>
              <a:srgbClr val="00B4D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850" spc="250" kern="0" dirty="0">
                <a:solidFill>
                  <a:srgbClr val="00B4D8"/>
                </a:solidFill>
                <a:latin typeface="Calibri" pitchFamily="34" charset="0"/>
                <a:ea typeface="Calibri" pitchFamily="34" charset="-122"/>
                <a:cs typeface="Calibri" pitchFamily="34" charset="-120"/>
              </a:rPr>
              <a:t>HERRAMIENTAS DE EXPLORACIÓN Y VALIDACIÓN</a:t>
            </a:r>
            <a:endParaRPr lang="en-US" sz="850" dirty="0"/>
          </a:p>
        </p:txBody>
      </p:sp>
      <p:sp>
        <p:nvSpPr>
          <p:cNvPr id="4" name="Text 2"/>
          <p:cNvSpPr/>
          <p:nvPr/>
        </p:nvSpPr>
        <p:spPr>
          <a:xfrm>
            <a:off x="457200" y="457200"/>
            <a:ext cx="8229600" cy="411480"/>
          </a:xfrm>
          <a:prstGeom prst="rect">
            <a:avLst/>
          </a:prstGeom>
          <a:noFill/>
          <a:ln/>
        </p:spPr>
        <p:txBody>
          <a:bodyPr wrap="square" lIns="0" tIns="0" rIns="0" bIns="0" rtlCol="0" anchor="ctr"/>
          <a:lstStyle/>
          <a:p>
            <a:pPr indent="0" marL="0">
              <a:buNone/>
            </a:pPr>
            <a:r>
              <a:rPr lang="en-US" sz="1900" b="1" dirty="0">
                <a:solidFill>
                  <a:srgbClr val="333333"/>
                </a:solidFill>
                <a:latin typeface="Trebuchet MS" pitchFamily="34" charset="0"/>
                <a:ea typeface="Trebuchet MS" pitchFamily="34" charset="-122"/>
                <a:cs typeface="Trebuchet MS" pitchFamily="34" charset="-120"/>
              </a:rPr>
              <a:t>NotebookLM y Magisterium: distintos, complementarios.</a:t>
            </a:r>
            <a:endParaRPr lang="en-US" sz="1900" dirty="0"/>
          </a:p>
        </p:txBody>
      </p:sp>
      <p:sp>
        <p:nvSpPr>
          <p:cNvPr id="5" name="Shape 3"/>
          <p:cNvSpPr/>
          <p:nvPr/>
        </p:nvSpPr>
        <p:spPr>
          <a:xfrm>
            <a:off x="457200" y="1005840"/>
            <a:ext cx="3840480" cy="3429000"/>
          </a:xfrm>
          <a:prstGeom prst="rect">
            <a:avLst/>
          </a:prstGeom>
          <a:solidFill>
            <a:srgbClr val="F0FBFF"/>
          </a:solidFill>
          <a:ln w="12700">
            <a:solidFill>
              <a:srgbClr val="CAF0F8"/>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005840"/>
            <a:ext cx="3840480" cy="54864"/>
          </a:xfrm>
          <a:prstGeom prst="rect">
            <a:avLst/>
          </a:prstGeom>
          <a:solidFill>
            <a:srgbClr val="00B4D8"/>
          </a:solidFill>
          <a:ln w="12700">
            <a:solidFill>
              <a:srgbClr val="00B4D8"/>
            </a:solidFill>
            <a:prstDash val="solid"/>
          </a:ln>
        </p:spPr>
      </p:sp>
      <p:sp>
        <p:nvSpPr>
          <p:cNvPr id="7" name="Text 5"/>
          <p:cNvSpPr/>
          <p:nvPr/>
        </p:nvSpPr>
        <p:spPr>
          <a:xfrm>
            <a:off x="594360" y="1078992"/>
            <a:ext cx="3566160" cy="438912"/>
          </a:xfrm>
          <a:prstGeom prst="rect">
            <a:avLst/>
          </a:prstGeom>
          <a:noFill/>
          <a:ln/>
        </p:spPr>
        <p:txBody>
          <a:bodyPr wrap="square" lIns="0" tIns="0" rIns="0" bIns="0" rtlCol="0" anchor="ctr"/>
          <a:lstStyle/>
          <a:p>
            <a:pPr indent="0" marL="0">
              <a:buNone/>
            </a:pPr>
            <a:r>
              <a:rPr lang="en-US" sz="1700" b="1" dirty="0">
                <a:solidFill>
                  <a:srgbClr val="0096B7"/>
                </a:solidFill>
                <a:latin typeface="Trebuchet MS" pitchFamily="34" charset="0"/>
                <a:ea typeface="Trebuchet MS" pitchFamily="34" charset="-122"/>
                <a:cs typeface="Trebuchet MS" pitchFamily="34" charset="-120"/>
              </a:rPr>
              <a:t>🗂️  NotebookLM</a:t>
            </a:r>
            <a:endParaRPr lang="en-US" sz="1700" dirty="0"/>
          </a:p>
        </p:txBody>
      </p:sp>
      <p:sp>
        <p:nvSpPr>
          <p:cNvPr id="8" name="Text 6"/>
          <p:cNvSpPr/>
          <p:nvPr/>
        </p:nvSpPr>
        <p:spPr>
          <a:xfrm>
            <a:off x="594360" y="1508760"/>
            <a:ext cx="3566160" cy="256032"/>
          </a:xfrm>
          <a:prstGeom prst="rect">
            <a:avLst/>
          </a:prstGeom>
          <a:noFill/>
          <a:ln/>
        </p:spPr>
        <p:txBody>
          <a:bodyPr wrap="square" lIns="0" tIns="0" rIns="0" bIns="0" rtlCol="0" anchor="ctr"/>
          <a:lstStyle/>
          <a:p>
            <a:pPr indent="0" marL="0">
              <a:buNone/>
            </a:pPr>
            <a:r>
              <a:rPr lang="en-US" sz="950" i="1" dirty="0">
                <a:solidFill>
                  <a:srgbClr val="666666"/>
                </a:solidFill>
                <a:latin typeface="Calibri" pitchFamily="34" charset="0"/>
                <a:ea typeface="Calibri" pitchFamily="34" charset="-122"/>
                <a:cs typeface="Calibri" pitchFamily="34" charset="-120"/>
              </a:rPr>
              <a:t>Conversar con los estándares curriculares</a:t>
            </a:r>
            <a:endParaRPr lang="en-US" sz="950" dirty="0"/>
          </a:p>
        </p:txBody>
      </p:sp>
      <p:sp>
        <p:nvSpPr>
          <p:cNvPr id="9" name="Text 7"/>
          <p:cNvSpPr/>
          <p:nvPr/>
        </p:nvSpPr>
        <p:spPr>
          <a:xfrm>
            <a:off x="594360" y="1828800"/>
            <a:ext cx="3566160" cy="2468880"/>
          </a:xfrm>
          <a:prstGeom prst="rect">
            <a:avLst/>
          </a:prstGeom>
          <a:noFill/>
          <a:ln/>
        </p:spPr>
        <p:txBody>
          <a:bodyPr wrap="square" rtlCol="0" anchor="ctr"/>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Carga el PDF de estándares como fuente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Pregunta en lenguaje natural, sin tecnicismos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Convierte los outputs en Notes → Sources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Añade fuentes de Magisterium via Google Drive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Genera el brief con todas las fuentes activas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Con solo el brief: genera el prompt final</a:t>
            </a:r>
            <a:endParaRPr lang="en-US" sz="1000" dirty="0"/>
          </a:p>
        </p:txBody>
      </p:sp>
      <p:sp>
        <p:nvSpPr>
          <p:cNvPr id="10" name="Shape 8"/>
          <p:cNvSpPr/>
          <p:nvPr/>
        </p:nvSpPr>
        <p:spPr>
          <a:xfrm>
            <a:off x="4846320" y="1005840"/>
            <a:ext cx="3840480" cy="3429000"/>
          </a:xfrm>
          <a:prstGeom prst="rect">
            <a:avLst/>
          </a:prstGeom>
          <a:solidFill>
            <a:srgbClr val="F0FFF4"/>
          </a:solidFill>
          <a:ln w="12700">
            <a:solidFill>
              <a:srgbClr val="333333"/>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846320" y="1005840"/>
            <a:ext cx="3840480" cy="54864"/>
          </a:xfrm>
          <a:prstGeom prst="rect">
            <a:avLst/>
          </a:prstGeom>
          <a:solidFill>
            <a:srgbClr val="2DC653"/>
          </a:solidFill>
          <a:ln w="12700">
            <a:solidFill>
              <a:srgbClr val="2DC653"/>
            </a:solidFill>
            <a:prstDash val="solid"/>
          </a:ln>
        </p:spPr>
      </p:sp>
      <p:sp>
        <p:nvSpPr>
          <p:cNvPr id="12" name="Text 10"/>
          <p:cNvSpPr/>
          <p:nvPr/>
        </p:nvSpPr>
        <p:spPr>
          <a:xfrm>
            <a:off x="4983480" y="1078992"/>
            <a:ext cx="3566160" cy="438912"/>
          </a:xfrm>
          <a:prstGeom prst="rect">
            <a:avLst/>
          </a:prstGeom>
          <a:noFill/>
          <a:ln/>
        </p:spPr>
        <p:txBody>
          <a:bodyPr wrap="square" lIns="0" tIns="0" rIns="0" bIns="0" rtlCol="0" anchor="ctr"/>
          <a:lstStyle/>
          <a:p>
            <a:pPr indent="0" marL="0">
              <a:buNone/>
            </a:pPr>
            <a:r>
              <a:rPr lang="en-US" sz="1700" b="1" dirty="0">
                <a:solidFill>
                  <a:srgbClr val="2DC653"/>
                </a:solidFill>
                <a:latin typeface="Trebuchet MS" pitchFamily="34" charset="0"/>
                <a:ea typeface="Trebuchet MS" pitchFamily="34" charset="-122"/>
                <a:cs typeface="Trebuchet MS" pitchFamily="34" charset="-120"/>
              </a:rPr>
              <a:t>✝️  Magisterium AI</a:t>
            </a:r>
            <a:endParaRPr lang="en-US" sz="1700" dirty="0"/>
          </a:p>
        </p:txBody>
      </p:sp>
      <p:sp>
        <p:nvSpPr>
          <p:cNvPr id="13" name="Text 11"/>
          <p:cNvSpPr/>
          <p:nvPr/>
        </p:nvSpPr>
        <p:spPr>
          <a:xfrm>
            <a:off x="4983480" y="1508760"/>
            <a:ext cx="3566160" cy="256032"/>
          </a:xfrm>
          <a:prstGeom prst="rect">
            <a:avLst/>
          </a:prstGeom>
          <a:noFill/>
          <a:ln/>
        </p:spPr>
        <p:txBody>
          <a:bodyPr wrap="square" lIns="0" tIns="0" rIns="0" bIns="0" rtlCol="0" anchor="ctr"/>
          <a:lstStyle/>
          <a:p>
            <a:pPr indent="0" marL="0">
              <a:buNone/>
            </a:pPr>
            <a:r>
              <a:rPr lang="en-US" sz="950" i="1" dirty="0">
                <a:solidFill>
                  <a:srgbClr val="666666"/>
                </a:solidFill>
                <a:latin typeface="Calibri" pitchFamily="34" charset="0"/>
                <a:ea typeface="Calibri" pitchFamily="34" charset="-122"/>
                <a:cs typeface="Calibri" pitchFamily="34" charset="-120"/>
              </a:rPr>
              <a:t>Validar fuentes doctrinales del Magisterio</a:t>
            </a:r>
            <a:endParaRPr lang="en-US" sz="950" dirty="0"/>
          </a:p>
        </p:txBody>
      </p:sp>
      <p:sp>
        <p:nvSpPr>
          <p:cNvPr id="14" name="Text 12"/>
          <p:cNvSpPr/>
          <p:nvPr/>
        </p:nvSpPr>
        <p:spPr>
          <a:xfrm>
            <a:off x="4983480" y="1828800"/>
            <a:ext cx="3566160" cy="2468880"/>
          </a:xfrm>
          <a:prstGeom prst="rect">
            <a:avLst/>
          </a:prstGeom>
          <a:noFill/>
          <a:ln/>
        </p:spPr>
        <p:txBody>
          <a:bodyPr wrap="square" rtlCol="0" anchor="ctr"/>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Fuentes acotadas al Magisterio oficial (CIC, Vaticano II, encíclicas)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Consulta por tema de unidad con referencia específica</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Itera para adaptar el lenguaje a tu audiencia</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Exporta outputs a Google Docs en tu Drive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Añade el Doc como fuente en NotebookLM</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Siempre verifica citas en la fuente original</a:t>
            </a:r>
            <a:endParaRPr lang="en-US" sz="1000" dirty="0"/>
          </a:p>
        </p:txBody>
      </p:sp>
      <p:sp>
        <p:nvSpPr>
          <p:cNvPr id="15" name="Shape 13"/>
          <p:cNvSpPr/>
          <p:nvPr/>
        </p:nvSpPr>
        <p:spPr>
          <a:xfrm>
            <a:off x="4224528" y="2377440"/>
            <a:ext cx="502920" cy="502920"/>
          </a:xfrm>
          <a:prstGeom prst="ellipse">
            <a:avLst/>
          </a:prstGeom>
          <a:solidFill>
            <a:srgbClr val="F2F2F2"/>
          </a:solidFill>
          <a:ln w="12700">
            <a:solidFill>
              <a:srgbClr val="E4E4E4"/>
            </a:solidFill>
            <a:prstDash val="solid"/>
          </a:ln>
        </p:spPr>
      </p:sp>
      <p:sp>
        <p:nvSpPr>
          <p:cNvPr id="16" name="Text 14"/>
          <p:cNvSpPr/>
          <p:nvPr/>
        </p:nvSpPr>
        <p:spPr>
          <a:xfrm>
            <a:off x="4224528" y="2377440"/>
            <a:ext cx="502920" cy="502920"/>
          </a:xfrm>
          <a:prstGeom prst="rect">
            <a:avLst/>
          </a:prstGeom>
          <a:noFill/>
          <a:ln/>
        </p:spPr>
        <p:txBody>
          <a:bodyPr wrap="square" lIns="0" tIns="0" rIns="0" bIns="0" rtlCol="0" anchor="ctr"/>
          <a:lstStyle/>
          <a:p>
            <a:pPr algn="ctr" indent="0" marL="0">
              <a:buNone/>
            </a:pPr>
            <a:r>
              <a:rPr lang="en-US" sz="1400" b="1" dirty="0">
                <a:solidFill>
                  <a:srgbClr val="666666"/>
                </a:solidFill>
                <a:latin typeface="Trebuchet MS" pitchFamily="34" charset="0"/>
                <a:ea typeface="Trebuchet MS" pitchFamily="34" charset="-122"/>
                <a:cs typeface="Trebuchet MS" pitchFamily="34" charset="-120"/>
              </a:rPr>
              <a:t>+</a:t>
            </a:r>
            <a:endParaRPr lang="en-US" sz="1400" dirty="0"/>
          </a:p>
        </p:txBody>
      </p:sp>
      <p:sp>
        <p:nvSpPr>
          <p:cNvPr id="17" name="Shape 15"/>
          <p:cNvSpPr/>
          <p:nvPr/>
        </p:nvSpPr>
        <p:spPr>
          <a:xfrm>
            <a:off x="457200" y="4572000"/>
            <a:ext cx="8229600" cy="246888"/>
          </a:xfrm>
          <a:prstGeom prst="rect">
            <a:avLst/>
          </a:prstGeom>
          <a:solidFill>
            <a:srgbClr val="FFF5F5"/>
          </a:solidFill>
          <a:ln w="6350">
            <a:solidFill>
              <a:srgbClr val="FFCDD2"/>
            </a:solidFill>
            <a:prstDash val="solid"/>
          </a:ln>
        </p:spPr>
      </p:sp>
      <p:sp>
        <p:nvSpPr>
          <p:cNvPr id="18" name="Text 16"/>
          <p:cNvSpPr/>
          <p:nvPr/>
        </p:nvSpPr>
        <p:spPr>
          <a:xfrm>
            <a:off x="457200" y="4572000"/>
            <a:ext cx="8229600" cy="246888"/>
          </a:xfrm>
          <a:prstGeom prst="rect">
            <a:avLst/>
          </a:prstGeom>
          <a:noFill/>
          <a:ln/>
        </p:spPr>
        <p:txBody>
          <a:bodyPr wrap="square" lIns="0" tIns="0" rIns="0" bIns="0" rtlCol="0" anchor="ctr"/>
          <a:lstStyle/>
          <a:p>
            <a:pPr algn="ctr" indent="0" marL="0">
              <a:buNone/>
            </a:pPr>
            <a:r>
              <a:rPr lang="en-US" sz="900" b="1" dirty="0">
                <a:solidFill>
                  <a:srgbClr val="E05C5C"/>
                </a:solidFill>
                <a:latin typeface="Calibri" pitchFamily="34" charset="0"/>
                <a:ea typeface="Calibri" pitchFamily="34" charset="-122"/>
                <a:cs typeface="Calibri" pitchFamily="34" charset="-120"/>
              </a:rPr>
              <a:t>⚠  Verifica siempre las citas doctrinales en la fuente original antes de usarlas en clase</a:t>
            </a:r>
            <a:endParaRPr lang="en-US" sz="900" dirty="0"/>
          </a:p>
        </p:txBody>
      </p:sp>
      <p:sp>
        <p:nvSpPr>
          <p:cNvPr id="19" name="Text 17"/>
          <p:cNvSpPr/>
          <p:nvPr/>
        </p:nvSpPr>
        <p:spPr>
          <a:xfrm>
            <a:off x="457200" y="4892040"/>
            <a:ext cx="1828800" cy="201168"/>
          </a:xfrm>
          <a:prstGeom prst="rect">
            <a:avLst/>
          </a:prstGeom>
          <a:noFill/>
          <a:ln/>
        </p:spPr>
        <p:txBody>
          <a:bodyPr wrap="square" lIns="0" tIns="0" rIns="0" bIns="0" rtlCol="0" anchor="ctr"/>
          <a:lstStyle/>
          <a:p>
            <a:pPr indent="0" marL="0">
              <a:buNone/>
            </a:pPr>
            <a:r>
              <a:rPr lang="en-US" sz="800" dirty="0">
                <a:solidFill>
                  <a:srgbClr val="00B4D8"/>
                </a:solidFill>
                <a:latin typeface="Trebuchet MS" pitchFamily="34" charset="0"/>
                <a:ea typeface="Trebuchet MS" pitchFamily="34" charset="-122"/>
                <a:cs typeface="Trebuchet MS" pitchFamily="34" charset="-120"/>
              </a:rPr>
              <a:t>ETB.education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4D8"/>
          </a:solidFill>
          <a:ln w="12700">
            <a:solidFill>
              <a:srgbClr val="00B4D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850" spc="250" kern="0" dirty="0">
                <a:solidFill>
                  <a:srgbClr val="00B4D8"/>
                </a:solidFill>
                <a:latin typeface="Calibri" pitchFamily="34" charset="0"/>
                <a:ea typeface="Calibri" pitchFamily="34" charset="-122"/>
                <a:cs typeface="Calibri" pitchFamily="34" charset="-120"/>
              </a:rPr>
              <a:t>FUNDAMENTO · EL PROMPT</a:t>
            </a:r>
            <a:endParaRPr lang="en-US" sz="85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indent="0" marL="0">
              <a:buNone/>
            </a:pPr>
            <a:r>
              <a:rPr lang="en-US" sz="2600" b="1" dirty="0">
                <a:solidFill>
                  <a:srgbClr val="333333"/>
                </a:solidFill>
                <a:latin typeface="Trebuchet MS" pitchFamily="34" charset="0"/>
                <a:ea typeface="Trebuchet MS" pitchFamily="34" charset="-122"/>
                <a:cs typeface="Trebuchet MS" pitchFamily="34" charset="-120"/>
              </a:rPr>
              <a:t>El prompt no es magia — es contexto</a:t>
            </a:r>
            <a:endParaRPr lang="en-US" sz="2600" dirty="0"/>
          </a:p>
        </p:txBody>
      </p:sp>
      <p:sp>
        <p:nvSpPr>
          <p:cNvPr id="5" name="Shape 3"/>
          <p:cNvSpPr/>
          <p:nvPr/>
        </p:nvSpPr>
        <p:spPr>
          <a:xfrm>
            <a:off x="457200" y="1115568"/>
            <a:ext cx="1280160" cy="347472"/>
          </a:xfrm>
          <a:prstGeom prst="rect">
            <a:avLst/>
          </a:prstGeom>
          <a:solidFill>
            <a:srgbClr val="00B4D8">
              <a:alpha val="12000"/>
            </a:srgbClr>
          </a:solidFill>
          <a:ln w="10160">
            <a:solidFill>
              <a:srgbClr val="00B4D8"/>
            </a:solidFill>
            <a:prstDash val="solid"/>
          </a:ln>
        </p:spPr>
      </p:sp>
      <p:sp>
        <p:nvSpPr>
          <p:cNvPr id="6" name="Text 4"/>
          <p:cNvSpPr/>
          <p:nvPr/>
        </p:nvSpPr>
        <p:spPr>
          <a:xfrm>
            <a:off x="457200" y="1115568"/>
            <a:ext cx="1280160" cy="347472"/>
          </a:xfrm>
          <a:prstGeom prst="rect">
            <a:avLst/>
          </a:prstGeom>
          <a:noFill/>
          <a:ln/>
        </p:spPr>
        <p:txBody>
          <a:bodyPr wrap="square" lIns="0" tIns="0" rIns="0" bIns="0" rtlCol="0" anchor="ctr"/>
          <a:lstStyle/>
          <a:p>
            <a:pPr algn="ctr" indent="0" marL="0">
              <a:buNone/>
            </a:pPr>
            <a:r>
              <a:rPr lang="en-US" sz="850" b="1" dirty="0">
                <a:solidFill>
                  <a:srgbClr val="00B4D8"/>
                </a:solidFill>
                <a:latin typeface="Calibri" pitchFamily="34" charset="0"/>
                <a:ea typeface="Calibri" pitchFamily="34" charset="-122"/>
                <a:cs typeface="Calibri" pitchFamily="34" charset="-120"/>
              </a:rPr>
              <a:t>ROL</a:t>
            </a:r>
            <a:endParaRPr lang="en-US" sz="850" dirty="0"/>
          </a:p>
        </p:txBody>
      </p:sp>
      <p:sp>
        <p:nvSpPr>
          <p:cNvPr id="7" name="Text 5"/>
          <p:cNvSpPr/>
          <p:nvPr/>
        </p:nvSpPr>
        <p:spPr>
          <a:xfrm>
            <a:off x="1874520" y="1152144"/>
            <a:ext cx="3749040" cy="274320"/>
          </a:xfrm>
          <a:prstGeom prst="rect">
            <a:avLst/>
          </a:prstGeom>
          <a:noFill/>
          <a:ln/>
        </p:spPr>
        <p:txBody>
          <a:bodyPr wrap="square" lIns="0" tIns="0" rIns="0" bIns="0" rtlCol="0" anchor="ctr"/>
          <a:lstStyle/>
          <a:p>
            <a:pPr indent="0" marL="0">
              <a:buNone/>
            </a:pPr>
            <a:r>
              <a:rPr lang="en-US" sz="1050" dirty="0">
                <a:solidFill>
                  <a:srgbClr val="333333"/>
                </a:solidFill>
                <a:latin typeface="Calibri" pitchFamily="34" charset="0"/>
                <a:ea typeface="Calibri" pitchFamily="34" charset="-122"/>
                <a:cs typeface="Calibri" pitchFamily="34" charset="-120"/>
              </a:rPr>
              <a:t>¿Quién es la IA en esta conversación?</a:t>
            </a:r>
            <a:endParaRPr lang="en-US" sz="1050" dirty="0"/>
          </a:p>
        </p:txBody>
      </p:sp>
      <p:sp>
        <p:nvSpPr>
          <p:cNvPr id="8" name="Shape 6"/>
          <p:cNvSpPr/>
          <p:nvPr/>
        </p:nvSpPr>
        <p:spPr>
          <a:xfrm>
            <a:off x="457200" y="1783080"/>
            <a:ext cx="1280160" cy="347472"/>
          </a:xfrm>
          <a:prstGeom prst="rect">
            <a:avLst/>
          </a:prstGeom>
          <a:solidFill>
            <a:srgbClr val="0096B7">
              <a:alpha val="12000"/>
            </a:srgbClr>
          </a:solidFill>
          <a:ln w="10160">
            <a:solidFill>
              <a:srgbClr val="0096B7"/>
            </a:solidFill>
            <a:prstDash val="solid"/>
          </a:ln>
        </p:spPr>
      </p:sp>
      <p:sp>
        <p:nvSpPr>
          <p:cNvPr id="9" name="Text 7"/>
          <p:cNvSpPr/>
          <p:nvPr/>
        </p:nvSpPr>
        <p:spPr>
          <a:xfrm>
            <a:off x="457200" y="1783080"/>
            <a:ext cx="1280160" cy="347472"/>
          </a:xfrm>
          <a:prstGeom prst="rect">
            <a:avLst/>
          </a:prstGeom>
          <a:noFill/>
          <a:ln/>
        </p:spPr>
        <p:txBody>
          <a:bodyPr wrap="square" lIns="0" tIns="0" rIns="0" bIns="0" rtlCol="0" anchor="ctr"/>
          <a:lstStyle/>
          <a:p>
            <a:pPr algn="ctr" indent="0" marL="0">
              <a:buNone/>
            </a:pPr>
            <a:r>
              <a:rPr lang="en-US" sz="850" b="1" dirty="0">
                <a:solidFill>
                  <a:srgbClr val="0096B7"/>
                </a:solidFill>
                <a:latin typeface="Calibri" pitchFamily="34" charset="0"/>
                <a:ea typeface="Calibri" pitchFamily="34" charset="-122"/>
                <a:cs typeface="Calibri" pitchFamily="34" charset="-120"/>
              </a:rPr>
              <a:t>CONTEXTO</a:t>
            </a:r>
            <a:endParaRPr lang="en-US" sz="850" dirty="0"/>
          </a:p>
        </p:txBody>
      </p:sp>
      <p:sp>
        <p:nvSpPr>
          <p:cNvPr id="10" name="Text 8"/>
          <p:cNvSpPr/>
          <p:nvPr/>
        </p:nvSpPr>
        <p:spPr>
          <a:xfrm>
            <a:off x="1874520" y="1819656"/>
            <a:ext cx="3749040" cy="274320"/>
          </a:xfrm>
          <a:prstGeom prst="rect">
            <a:avLst/>
          </a:prstGeom>
          <a:noFill/>
          <a:ln/>
        </p:spPr>
        <p:txBody>
          <a:bodyPr wrap="square" lIns="0" tIns="0" rIns="0" bIns="0" rtlCol="0" anchor="ctr"/>
          <a:lstStyle/>
          <a:p>
            <a:pPr indent="0" marL="0">
              <a:buNone/>
            </a:pPr>
            <a:r>
              <a:rPr lang="en-US" sz="1050" dirty="0">
                <a:solidFill>
                  <a:srgbClr val="333333"/>
                </a:solidFill>
                <a:latin typeface="Calibri" pitchFamily="34" charset="0"/>
                <a:ea typeface="Calibri" pitchFamily="34" charset="-122"/>
                <a:cs typeface="Calibri" pitchFamily="34" charset="-120"/>
              </a:rPr>
              <a:t>Grado · Tema · Estándar · Doctrina · Perfil del estudiante</a:t>
            </a:r>
            <a:endParaRPr lang="en-US" sz="1050" dirty="0"/>
          </a:p>
        </p:txBody>
      </p:sp>
      <p:sp>
        <p:nvSpPr>
          <p:cNvPr id="11" name="Shape 9"/>
          <p:cNvSpPr/>
          <p:nvPr/>
        </p:nvSpPr>
        <p:spPr>
          <a:xfrm>
            <a:off x="457200" y="2450592"/>
            <a:ext cx="1280160" cy="347472"/>
          </a:xfrm>
          <a:prstGeom prst="rect">
            <a:avLst/>
          </a:prstGeom>
          <a:solidFill>
            <a:srgbClr val="2DC653">
              <a:alpha val="12000"/>
            </a:srgbClr>
          </a:solidFill>
          <a:ln w="10160">
            <a:solidFill>
              <a:srgbClr val="2DC653"/>
            </a:solidFill>
            <a:prstDash val="solid"/>
          </a:ln>
        </p:spPr>
      </p:sp>
      <p:sp>
        <p:nvSpPr>
          <p:cNvPr id="12" name="Text 10"/>
          <p:cNvSpPr/>
          <p:nvPr/>
        </p:nvSpPr>
        <p:spPr>
          <a:xfrm>
            <a:off x="457200" y="2450592"/>
            <a:ext cx="1280160" cy="347472"/>
          </a:xfrm>
          <a:prstGeom prst="rect">
            <a:avLst/>
          </a:prstGeom>
          <a:noFill/>
          <a:ln/>
        </p:spPr>
        <p:txBody>
          <a:bodyPr wrap="square" lIns="0" tIns="0" rIns="0" bIns="0" rtlCol="0" anchor="ctr"/>
          <a:lstStyle/>
          <a:p>
            <a:pPr algn="ctr" indent="0" marL="0">
              <a:buNone/>
            </a:pPr>
            <a:r>
              <a:rPr lang="en-US" sz="850" b="1" dirty="0">
                <a:solidFill>
                  <a:srgbClr val="2DC653"/>
                </a:solidFill>
                <a:latin typeface="Calibri" pitchFamily="34" charset="0"/>
                <a:ea typeface="Calibri" pitchFamily="34" charset="-122"/>
                <a:cs typeface="Calibri" pitchFamily="34" charset="-120"/>
              </a:rPr>
              <a:t>TAREA</a:t>
            </a:r>
            <a:endParaRPr lang="en-US" sz="850" dirty="0"/>
          </a:p>
        </p:txBody>
      </p:sp>
      <p:sp>
        <p:nvSpPr>
          <p:cNvPr id="13" name="Text 11"/>
          <p:cNvSpPr/>
          <p:nvPr/>
        </p:nvSpPr>
        <p:spPr>
          <a:xfrm>
            <a:off x="1874520" y="2487168"/>
            <a:ext cx="3749040" cy="274320"/>
          </a:xfrm>
          <a:prstGeom prst="rect">
            <a:avLst/>
          </a:prstGeom>
          <a:noFill/>
          <a:ln/>
        </p:spPr>
        <p:txBody>
          <a:bodyPr wrap="square" lIns="0" tIns="0" rIns="0" bIns="0" rtlCol="0" anchor="ctr"/>
          <a:lstStyle/>
          <a:p>
            <a:pPr indent="0" marL="0">
              <a:buNone/>
            </a:pPr>
            <a:r>
              <a:rPr lang="en-US" sz="1050" dirty="0">
                <a:solidFill>
                  <a:srgbClr val="333333"/>
                </a:solidFill>
                <a:latin typeface="Calibri" pitchFamily="34" charset="0"/>
                <a:ea typeface="Calibri" pitchFamily="34" charset="-122"/>
                <a:cs typeface="Calibri" pitchFamily="34" charset="-120"/>
              </a:rPr>
              <a:t>¿Qué quieres que genere exactamente?</a:t>
            </a:r>
            <a:endParaRPr lang="en-US" sz="1050" dirty="0"/>
          </a:p>
        </p:txBody>
      </p:sp>
      <p:sp>
        <p:nvSpPr>
          <p:cNvPr id="14" name="Shape 12"/>
          <p:cNvSpPr/>
          <p:nvPr/>
        </p:nvSpPr>
        <p:spPr>
          <a:xfrm>
            <a:off x="457200" y="3118104"/>
            <a:ext cx="1280160" cy="347472"/>
          </a:xfrm>
          <a:prstGeom prst="rect">
            <a:avLst/>
          </a:prstGeom>
          <a:solidFill>
            <a:srgbClr val="7B5EA7">
              <a:alpha val="12000"/>
            </a:srgbClr>
          </a:solidFill>
          <a:ln w="10160">
            <a:solidFill>
              <a:srgbClr val="7B5EA7"/>
            </a:solidFill>
            <a:prstDash val="solid"/>
          </a:ln>
        </p:spPr>
      </p:sp>
      <p:sp>
        <p:nvSpPr>
          <p:cNvPr id="15" name="Text 13"/>
          <p:cNvSpPr/>
          <p:nvPr/>
        </p:nvSpPr>
        <p:spPr>
          <a:xfrm>
            <a:off x="457200" y="3118104"/>
            <a:ext cx="1280160" cy="347472"/>
          </a:xfrm>
          <a:prstGeom prst="rect">
            <a:avLst/>
          </a:prstGeom>
          <a:noFill/>
          <a:ln/>
        </p:spPr>
        <p:txBody>
          <a:bodyPr wrap="square" lIns="0" tIns="0" rIns="0" bIns="0" rtlCol="0" anchor="ctr"/>
          <a:lstStyle/>
          <a:p>
            <a:pPr algn="ctr" indent="0" marL="0">
              <a:buNone/>
            </a:pPr>
            <a:r>
              <a:rPr lang="en-US" sz="850" b="1" dirty="0">
                <a:solidFill>
                  <a:srgbClr val="7B5EA7"/>
                </a:solidFill>
                <a:latin typeface="Calibri" pitchFamily="34" charset="0"/>
                <a:ea typeface="Calibri" pitchFamily="34" charset="-122"/>
                <a:cs typeface="Calibri" pitchFamily="34" charset="-120"/>
              </a:rPr>
              <a:t>FORMATO</a:t>
            </a:r>
            <a:endParaRPr lang="en-US" sz="850" dirty="0"/>
          </a:p>
        </p:txBody>
      </p:sp>
      <p:sp>
        <p:nvSpPr>
          <p:cNvPr id="16" name="Text 14"/>
          <p:cNvSpPr/>
          <p:nvPr/>
        </p:nvSpPr>
        <p:spPr>
          <a:xfrm>
            <a:off x="1874520" y="3154680"/>
            <a:ext cx="3749040" cy="274320"/>
          </a:xfrm>
          <a:prstGeom prst="rect">
            <a:avLst/>
          </a:prstGeom>
          <a:noFill/>
          <a:ln/>
        </p:spPr>
        <p:txBody>
          <a:bodyPr wrap="square" lIns="0" tIns="0" rIns="0" bIns="0" rtlCol="0" anchor="ctr"/>
          <a:lstStyle/>
          <a:p>
            <a:pPr indent="0" marL="0">
              <a:buNone/>
            </a:pPr>
            <a:r>
              <a:rPr lang="en-US" sz="1050" dirty="0">
                <a:solidFill>
                  <a:srgbClr val="333333"/>
                </a:solidFill>
                <a:latin typeface="Calibri" pitchFamily="34" charset="0"/>
                <a:ea typeface="Calibri" pitchFamily="34" charset="-122"/>
                <a:cs typeface="Calibri" pitchFamily="34" charset="-120"/>
              </a:rPr>
              <a:t>¿Cómo quieres recibir el output?</a:t>
            </a:r>
            <a:endParaRPr lang="en-US" sz="1050" dirty="0"/>
          </a:p>
        </p:txBody>
      </p:sp>
      <p:sp>
        <p:nvSpPr>
          <p:cNvPr id="17" name="Shape 15"/>
          <p:cNvSpPr/>
          <p:nvPr/>
        </p:nvSpPr>
        <p:spPr>
          <a:xfrm>
            <a:off x="457200" y="3785616"/>
            <a:ext cx="1280160" cy="347472"/>
          </a:xfrm>
          <a:prstGeom prst="rect">
            <a:avLst/>
          </a:prstGeom>
          <a:solidFill>
            <a:srgbClr val="F4A01C">
              <a:alpha val="12000"/>
            </a:srgbClr>
          </a:solidFill>
          <a:ln w="10160">
            <a:solidFill>
              <a:srgbClr val="F4A01C"/>
            </a:solidFill>
            <a:prstDash val="solid"/>
          </a:ln>
        </p:spPr>
      </p:sp>
      <p:sp>
        <p:nvSpPr>
          <p:cNvPr id="18" name="Text 16"/>
          <p:cNvSpPr/>
          <p:nvPr/>
        </p:nvSpPr>
        <p:spPr>
          <a:xfrm>
            <a:off x="457200" y="3785616"/>
            <a:ext cx="1280160" cy="347472"/>
          </a:xfrm>
          <a:prstGeom prst="rect">
            <a:avLst/>
          </a:prstGeom>
          <a:noFill/>
          <a:ln/>
        </p:spPr>
        <p:txBody>
          <a:bodyPr wrap="square" lIns="0" tIns="0" rIns="0" bIns="0" rtlCol="0" anchor="ctr"/>
          <a:lstStyle/>
          <a:p>
            <a:pPr algn="ctr" indent="0" marL="0">
              <a:buNone/>
            </a:pPr>
            <a:r>
              <a:rPr lang="en-US" sz="850" b="1" dirty="0">
                <a:solidFill>
                  <a:srgbClr val="F4A01C"/>
                </a:solidFill>
                <a:latin typeface="Calibri" pitchFamily="34" charset="0"/>
                <a:ea typeface="Calibri" pitchFamily="34" charset="-122"/>
                <a:cs typeface="Calibri" pitchFamily="34" charset="-120"/>
              </a:rPr>
              <a:t>RESTRICCIONES</a:t>
            </a:r>
            <a:endParaRPr lang="en-US" sz="850" dirty="0"/>
          </a:p>
        </p:txBody>
      </p:sp>
      <p:sp>
        <p:nvSpPr>
          <p:cNvPr id="19" name="Text 17"/>
          <p:cNvSpPr/>
          <p:nvPr/>
        </p:nvSpPr>
        <p:spPr>
          <a:xfrm>
            <a:off x="1874520" y="3822192"/>
            <a:ext cx="3749040" cy="274320"/>
          </a:xfrm>
          <a:prstGeom prst="rect">
            <a:avLst/>
          </a:prstGeom>
          <a:noFill/>
          <a:ln/>
        </p:spPr>
        <p:txBody>
          <a:bodyPr wrap="square" lIns="0" tIns="0" rIns="0" bIns="0" rtlCol="0" anchor="ctr"/>
          <a:lstStyle/>
          <a:p>
            <a:pPr indent="0" marL="0">
              <a:buNone/>
            </a:pPr>
            <a:r>
              <a:rPr lang="en-US" sz="1050" dirty="0">
                <a:solidFill>
                  <a:srgbClr val="333333"/>
                </a:solidFill>
                <a:latin typeface="Calibri" pitchFamily="34" charset="0"/>
                <a:ea typeface="Calibri" pitchFamily="34" charset="-122"/>
                <a:cs typeface="Calibri" pitchFamily="34" charset="-120"/>
              </a:rPr>
              <a:t>Límites: tiempo, recursos, nivel de lenguaje</a:t>
            </a:r>
            <a:endParaRPr lang="en-US" sz="1050" dirty="0"/>
          </a:p>
        </p:txBody>
      </p:sp>
      <p:sp>
        <p:nvSpPr>
          <p:cNvPr id="20" name="Shape 18"/>
          <p:cNvSpPr/>
          <p:nvPr/>
        </p:nvSpPr>
        <p:spPr>
          <a:xfrm>
            <a:off x="5852160" y="1051560"/>
            <a:ext cx="2834640" cy="3703320"/>
          </a:xfrm>
          <a:prstGeom prst="rect">
            <a:avLst/>
          </a:prstGeom>
          <a:solidFill>
            <a:srgbClr val="F2F2F2"/>
          </a:solidFill>
          <a:ln w="6350">
            <a:solidFill>
              <a:srgbClr val="E4E4E4"/>
            </a:solidFill>
            <a:prstDash val="solid"/>
          </a:ln>
        </p:spPr>
      </p:sp>
      <p:sp>
        <p:nvSpPr>
          <p:cNvPr id="21" name="Text 19"/>
          <p:cNvSpPr/>
          <p:nvPr/>
        </p:nvSpPr>
        <p:spPr>
          <a:xfrm>
            <a:off x="5943600" y="1143000"/>
            <a:ext cx="1234440" cy="201168"/>
          </a:xfrm>
          <a:prstGeom prst="rect">
            <a:avLst/>
          </a:prstGeom>
          <a:noFill/>
          <a:ln/>
        </p:spPr>
        <p:txBody>
          <a:bodyPr wrap="square" lIns="0" tIns="0" rIns="0" bIns="0" rtlCol="0" anchor="ctr"/>
          <a:lstStyle/>
          <a:p>
            <a:pPr indent="0" marL="0">
              <a:buNone/>
            </a:pPr>
            <a:r>
              <a:rPr lang="en-US" sz="700" b="1" spc="100" kern="0" dirty="0">
                <a:solidFill>
                  <a:srgbClr val="E05C5C"/>
                </a:solidFill>
                <a:latin typeface="Calibri" pitchFamily="34" charset="0"/>
                <a:ea typeface="Calibri" pitchFamily="34" charset="-122"/>
                <a:cs typeface="Calibri" pitchFamily="34" charset="-120"/>
              </a:rPr>
              <a:t>SIN CONTEXTO</a:t>
            </a:r>
            <a:endParaRPr lang="en-US" sz="700" dirty="0"/>
          </a:p>
        </p:txBody>
      </p:sp>
      <p:sp>
        <p:nvSpPr>
          <p:cNvPr id="22" name="Shape 20"/>
          <p:cNvSpPr/>
          <p:nvPr/>
        </p:nvSpPr>
        <p:spPr>
          <a:xfrm>
            <a:off x="5943600" y="1371600"/>
            <a:ext cx="2651760" cy="1005840"/>
          </a:xfrm>
          <a:prstGeom prst="rect">
            <a:avLst/>
          </a:prstGeom>
          <a:solidFill>
            <a:srgbClr val="FFF5F5"/>
          </a:solidFill>
          <a:ln w="6350">
            <a:solidFill>
              <a:srgbClr val="FFCDD2"/>
            </a:solidFill>
            <a:prstDash val="solid"/>
          </a:ln>
        </p:spPr>
      </p:sp>
      <p:sp>
        <p:nvSpPr>
          <p:cNvPr id="23" name="Text 21"/>
          <p:cNvSpPr/>
          <p:nvPr/>
        </p:nvSpPr>
        <p:spPr>
          <a:xfrm>
            <a:off x="5989320" y="1417320"/>
            <a:ext cx="2560320" cy="914400"/>
          </a:xfrm>
          <a:prstGeom prst="rect">
            <a:avLst/>
          </a:prstGeom>
          <a:noFill/>
          <a:ln/>
        </p:spPr>
        <p:txBody>
          <a:bodyPr wrap="square" lIns="0" tIns="0" rIns="0" bIns="0" rtlCol="0" anchor="ctr"/>
          <a:lstStyle/>
          <a:p>
            <a:pPr indent="0" marL="0">
              <a:buNone/>
            </a:pPr>
            <a:r>
              <a:rPr lang="en-US" sz="950" i="1" dirty="0">
                <a:solidFill>
                  <a:srgbClr val="8A3030"/>
                </a:solidFill>
                <a:latin typeface="Calibri" pitchFamily="34" charset="0"/>
                <a:ea typeface="Calibri" pitchFamily="34" charset="-122"/>
                <a:cs typeface="Calibri" pitchFamily="34" charset="-120"/>
              </a:rPr>
              <a:t>"Hazme un plan de clase sobre los sacramentos."</a:t>
            </a:r>
            <a:endParaRPr lang="en-US" sz="950" dirty="0"/>
          </a:p>
        </p:txBody>
      </p:sp>
      <p:sp>
        <p:nvSpPr>
          <p:cNvPr id="24" name="Text 22"/>
          <p:cNvSpPr/>
          <p:nvPr/>
        </p:nvSpPr>
        <p:spPr>
          <a:xfrm>
            <a:off x="5943600" y="2487168"/>
            <a:ext cx="1371600" cy="201168"/>
          </a:xfrm>
          <a:prstGeom prst="rect">
            <a:avLst/>
          </a:prstGeom>
          <a:noFill/>
          <a:ln/>
        </p:spPr>
        <p:txBody>
          <a:bodyPr wrap="square" lIns="0" tIns="0" rIns="0" bIns="0" rtlCol="0" anchor="ctr"/>
          <a:lstStyle/>
          <a:p>
            <a:pPr indent="0" marL="0">
              <a:buNone/>
            </a:pPr>
            <a:r>
              <a:rPr lang="en-US" sz="700" b="1" spc="100" kern="0" dirty="0">
                <a:solidFill>
                  <a:srgbClr val="2DC653"/>
                </a:solidFill>
                <a:latin typeface="Calibri" pitchFamily="34" charset="0"/>
                <a:ea typeface="Calibri" pitchFamily="34" charset="-122"/>
                <a:cs typeface="Calibri" pitchFamily="34" charset="-120"/>
              </a:rPr>
              <a:t>CON CONTEXTO</a:t>
            </a:r>
            <a:endParaRPr lang="en-US" sz="700" dirty="0"/>
          </a:p>
        </p:txBody>
      </p:sp>
      <p:sp>
        <p:nvSpPr>
          <p:cNvPr id="25" name="Shape 23"/>
          <p:cNvSpPr/>
          <p:nvPr/>
        </p:nvSpPr>
        <p:spPr>
          <a:xfrm>
            <a:off x="5943600" y="2706624"/>
            <a:ext cx="2651760" cy="1920240"/>
          </a:xfrm>
          <a:prstGeom prst="rect">
            <a:avLst/>
          </a:prstGeom>
          <a:solidFill>
            <a:srgbClr val="F0FFF4"/>
          </a:solidFill>
          <a:ln w="6350">
            <a:solidFill>
              <a:srgbClr val="B8DECA"/>
            </a:solidFill>
            <a:prstDash val="solid"/>
          </a:ln>
        </p:spPr>
      </p:sp>
      <p:sp>
        <p:nvSpPr>
          <p:cNvPr id="26" name="Text 24"/>
          <p:cNvSpPr/>
          <p:nvPr/>
        </p:nvSpPr>
        <p:spPr>
          <a:xfrm>
            <a:off x="5989320" y="2752344"/>
            <a:ext cx="2560320" cy="1828800"/>
          </a:xfrm>
          <a:prstGeom prst="rect">
            <a:avLst/>
          </a:prstGeom>
          <a:noFill/>
          <a:ln/>
        </p:spPr>
        <p:txBody>
          <a:bodyPr wrap="square" lIns="0" tIns="0" rIns="0" bIns="0" rtlCol="0" anchor="t"/>
          <a:lstStyle/>
          <a:p>
            <a:pPr indent="0" marL="0">
              <a:buNone/>
            </a:pPr>
            <a:r>
              <a:rPr lang="en-US" sz="850" dirty="0">
                <a:solidFill>
                  <a:srgbClr val="1A3528"/>
                </a:solidFill>
                <a:latin typeface="Calibri" pitchFamily="34" charset="0"/>
                <a:ea typeface="Calibri" pitchFamily="34" charset="-122"/>
                <a:cs typeface="Calibri" pitchFamily="34" charset="-120"/>
              </a:rPr>
              <a:t>"Actúa como asistente de religión K-12. Estoy planificando Sacramentos en 9no. Objetivo: que el estudiante los viva como encuentro, no como ritual (CIC 1084). Estudiantes de 14-15 años, buscan autenticidad. Genera un hook de 10 min."</a:t>
            </a:r>
            <a:endParaRPr lang="en-US" sz="850" dirty="0"/>
          </a:p>
        </p:txBody>
      </p:sp>
      <p:sp>
        <p:nvSpPr>
          <p:cNvPr id="27" name="Text 25"/>
          <p:cNvSpPr/>
          <p:nvPr/>
        </p:nvSpPr>
        <p:spPr>
          <a:xfrm>
            <a:off x="457200" y="4892040"/>
            <a:ext cx="1828800" cy="201168"/>
          </a:xfrm>
          <a:prstGeom prst="rect">
            <a:avLst/>
          </a:prstGeom>
          <a:noFill/>
          <a:ln/>
        </p:spPr>
        <p:txBody>
          <a:bodyPr wrap="square" lIns="0" tIns="0" rIns="0" bIns="0" rtlCol="0" anchor="ctr"/>
          <a:lstStyle/>
          <a:p>
            <a:pPr indent="0" marL="0">
              <a:buNone/>
            </a:pPr>
            <a:r>
              <a:rPr lang="en-US" sz="800" dirty="0">
                <a:solidFill>
                  <a:srgbClr val="00B4D8"/>
                </a:solidFill>
                <a:latin typeface="Trebuchet MS" pitchFamily="34" charset="0"/>
                <a:ea typeface="Trebuchet MS" pitchFamily="34" charset="-122"/>
                <a:cs typeface="Trebuchet MS" pitchFamily="34" charset="-120"/>
              </a:rPr>
              <a:t>ETB.education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4D8"/>
          </a:solidFill>
          <a:ln w="12700">
            <a:solidFill>
              <a:srgbClr val="00B4D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850" spc="250" kern="0" dirty="0">
                <a:solidFill>
                  <a:srgbClr val="00B4D8"/>
                </a:solidFill>
                <a:latin typeface="Calibri" pitchFamily="34" charset="0"/>
                <a:ea typeface="Calibri" pitchFamily="34" charset="-122"/>
                <a:cs typeface="Calibri" pitchFamily="34" charset="-120"/>
              </a:rPr>
              <a:t>HERRAMIENTAS DE GENERACIÓN</a:t>
            </a:r>
            <a:endParaRPr lang="en-US" sz="85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indent="0" marL="0">
              <a:buNone/>
            </a:pPr>
            <a:r>
              <a:rPr lang="en-US" sz="2000" b="1" dirty="0">
                <a:solidFill>
                  <a:srgbClr val="333333"/>
                </a:solidFill>
                <a:latin typeface="Trebuchet MS" pitchFamily="34" charset="0"/>
                <a:ea typeface="Trebuchet MS" pitchFamily="34" charset="-122"/>
                <a:cs typeface="Trebuchet MS" pitchFamily="34" charset="-120"/>
              </a:rPr>
              <a:t>¿CopilotERE o MagicSchool? Depende de lo que necesitas.</a:t>
            </a:r>
            <a:endParaRPr lang="en-US" sz="2000" dirty="0"/>
          </a:p>
        </p:txBody>
      </p:sp>
      <p:sp>
        <p:nvSpPr>
          <p:cNvPr id="5" name="Shape 3"/>
          <p:cNvSpPr/>
          <p:nvPr/>
        </p:nvSpPr>
        <p:spPr>
          <a:xfrm>
            <a:off x="457200" y="1097280"/>
            <a:ext cx="3840480" cy="3383280"/>
          </a:xfrm>
          <a:prstGeom prst="rect">
            <a:avLst/>
          </a:prstGeom>
          <a:solidFill>
            <a:srgbClr val="F8F4FF"/>
          </a:solidFill>
          <a:ln w="12700">
            <a:solidFill>
              <a:srgbClr val="C8BAEA"/>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097280"/>
            <a:ext cx="3840480" cy="54864"/>
          </a:xfrm>
          <a:prstGeom prst="rect">
            <a:avLst/>
          </a:prstGeom>
          <a:solidFill>
            <a:srgbClr val="7B5EA7"/>
          </a:solidFill>
          <a:ln w="12700">
            <a:solidFill>
              <a:srgbClr val="7B5EA7"/>
            </a:solidFill>
            <a:prstDash val="solid"/>
          </a:ln>
        </p:spPr>
      </p:sp>
      <p:sp>
        <p:nvSpPr>
          <p:cNvPr id="7" name="Text 5"/>
          <p:cNvSpPr/>
          <p:nvPr/>
        </p:nvSpPr>
        <p:spPr>
          <a:xfrm>
            <a:off x="594360" y="1188720"/>
            <a:ext cx="3566160" cy="457200"/>
          </a:xfrm>
          <a:prstGeom prst="rect">
            <a:avLst/>
          </a:prstGeom>
          <a:noFill/>
          <a:ln/>
        </p:spPr>
        <p:txBody>
          <a:bodyPr wrap="square" lIns="0" tIns="0" rIns="0" bIns="0" rtlCol="0" anchor="ctr"/>
          <a:lstStyle/>
          <a:p>
            <a:pPr indent="0" marL="0">
              <a:buNone/>
            </a:pPr>
            <a:r>
              <a:rPr lang="en-US" sz="1700" b="1" dirty="0">
                <a:solidFill>
                  <a:srgbClr val="7B5EA7"/>
                </a:solidFill>
                <a:latin typeface="Trebuchet MS" pitchFamily="34" charset="0"/>
                <a:ea typeface="Trebuchet MS" pitchFamily="34" charset="-122"/>
                <a:cs typeface="Trebuchet MS" pitchFamily="34" charset="-120"/>
              </a:rPr>
              <a:t>🤖  CopilotERE</a:t>
            </a:r>
            <a:endParaRPr lang="en-US" sz="1700" dirty="0"/>
          </a:p>
        </p:txBody>
      </p:sp>
      <p:sp>
        <p:nvSpPr>
          <p:cNvPr id="8" name="Text 6"/>
          <p:cNvSpPr/>
          <p:nvPr/>
        </p:nvSpPr>
        <p:spPr>
          <a:xfrm>
            <a:off x="594360" y="1664208"/>
            <a:ext cx="3566160" cy="256032"/>
          </a:xfrm>
          <a:prstGeom prst="rect">
            <a:avLst/>
          </a:prstGeom>
          <a:noFill/>
          <a:ln/>
        </p:spPr>
        <p:txBody>
          <a:bodyPr wrap="square" lIns="0" tIns="0" rIns="0" bIns="0" rtlCol="0" anchor="ctr"/>
          <a:lstStyle/>
          <a:p>
            <a:pPr indent="0" marL="0">
              <a:buNone/>
            </a:pPr>
            <a:r>
              <a:rPr lang="en-US" sz="950" i="1" dirty="0">
                <a:solidFill>
                  <a:srgbClr val="666666"/>
                </a:solidFill>
                <a:latin typeface="Calibri" pitchFamily="34" charset="0"/>
                <a:ea typeface="Calibri" pitchFamily="34" charset="-122"/>
                <a:cs typeface="Calibri" pitchFamily="34" charset="-120"/>
              </a:rPr>
              <a:t>Tu asistente personalizado de planificación</a:t>
            </a:r>
            <a:endParaRPr lang="en-US" sz="950" dirty="0"/>
          </a:p>
        </p:txBody>
      </p:sp>
      <p:sp>
        <p:nvSpPr>
          <p:cNvPr id="9" name="Text 7"/>
          <p:cNvSpPr/>
          <p:nvPr/>
        </p:nvSpPr>
        <p:spPr>
          <a:xfrm>
            <a:off x="594360" y="1965960"/>
            <a:ext cx="3566160" cy="2331720"/>
          </a:xfrm>
          <a:prstGeom prst="rect">
            <a:avLst/>
          </a:prstGeom>
          <a:noFill/>
          <a:ln/>
        </p:spPr>
        <p:txBody>
          <a:bodyPr wrap="square" rtlCol="0" anchor="ctr"/>
          <a:lstStyle/>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Diálogo e iteración continua</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Recuerda el contexto de la unidad</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Genera múltiples tipos de experiencia en una sola sesión</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Ideal cuando quieres refinar con preguntas de seguimiento</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Conoce los estándares de religión cargados</a:t>
            </a:r>
            <a:endParaRPr lang="en-US" sz="1050" dirty="0"/>
          </a:p>
        </p:txBody>
      </p:sp>
      <p:sp>
        <p:nvSpPr>
          <p:cNvPr id="10" name="Shape 8"/>
          <p:cNvSpPr/>
          <p:nvPr/>
        </p:nvSpPr>
        <p:spPr>
          <a:xfrm>
            <a:off x="4846320" y="1097280"/>
            <a:ext cx="3840480" cy="3383280"/>
          </a:xfrm>
          <a:prstGeom prst="rect">
            <a:avLst/>
          </a:prstGeom>
          <a:solidFill>
            <a:srgbClr val="F0FBFF"/>
          </a:solidFill>
          <a:ln w="12700">
            <a:solidFill>
              <a:srgbClr val="CAF0F8"/>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846320" y="1097280"/>
            <a:ext cx="3840480" cy="54864"/>
          </a:xfrm>
          <a:prstGeom prst="rect">
            <a:avLst/>
          </a:prstGeom>
          <a:solidFill>
            <a:srgbClr val="00B4D8"/>
          </a:solidFill>
          <a:ln w="12700">
            <a:solidFill>
              <a:srgbClr val="00B4D8"/>
            </a:solidFill>
            <a:prstDash val="solid"/>
          </a:ln>
        </p:spPr>
      </p:sp>
      <p:sp>
        <p:nvSpPr>
          <p:cNvPr id="12" name="Text 10"/>
          <p:cNvSpPr/>
          <p:nvPr/>
        </p:nvSpPr>
        <p:spPr>
          <a:xfrm>
            <a:off x="4983480" y="1188720"/>
            <a:ext cx="3566160" cy="457200"/>
          </a:xfrm>
          <a:prstGeom prst="rect">
            <a:avLst/>
          </a:prstGeom>
          <a:noFill/>
          <a:ln/>
        </p:spPr>
        <p:txBody>
          <a:bodyPr wrap="square" lIns="0" tIns="0" rIns="0" bIns="0" rtlCol="0" anchor="ctr"/>
          <a:lstStyle/>
          <a:p>
            <a:pPr indent="0" marL="0">
              <a:buNone/>
            </a:pPr>
            <a:r>
              <a:rPr lang="en-US" sz="1700" b="1" dirty="0">
                <a:solidFill>
                  <a:srgbClr val="0096B7"/>
                </a:solidFill>
                <a:latin typeface="Trebuchet MS" pitchFamily="34" charset="0"/>
                <a:ea typeface="Trebuchet MS" pitchFamily="34" charset="-122"/>
                <a:cs typeface="Trebuchet MS" pitchFamily="34" charset="-120"/>
              </a:rPr>
              <a:t>🎓  MagicSchool AI</a:t>
            </a:r>
            <a:endParaRPr lang="en-US" sz="1700" dirty="0"/>
          </a:p>
        </p:txBody>
      </p:sp>
      <p:sp>
        <p:nvSpPr>
          <p:cNvPr id="13" name="Text 11"/>
          <p:cNvSpPr/>
          <p:nvPr/>
        </p:nvSpPr>
        <p:spPr>
          <a:xfrm>
            <a:off x="4983480" y="1664208"/>
            <a:ext cx="3566160" cy="256032"/>
          </a:xfrm>
          <a:prstGeom prst="rect">
            <a:avLst/>
          </a:prstGeom>
          <a:noFill/>
          <a:ln/>
        </p:spPr>
        <p:txBody>
          <a:bodyPr wrap="square" lIns="0" tIns="0" rIns="0" bIns="0" rtlCol="0" anchor="ctr"/>
          <a:lstStyle/>
          <a:p>
            <a:pPr indent="0" marL="0">
              <a:buNone/>
            </a:pPr>
            <a:r>
              <a:rPr lang="en-US" sz="950" i="1" dirty="0">
                <a:solidFill>
                  <a:srgbClr val="666666"/>
                </a:solidFill>
                <a:latin typeface="Calibri" pitchFamily="34" charset="0"/>
                <a:ea typeface="Calibri" pitchFamily="34" charset="-122"/>
                <a:cs typeface="Calibri" pitchFamily="34" charset="-120"/>
              </a:rPr>
              <a:t>Herramientas específicas para cada recurso</a:t>
            </a:r>
            <a:endParaRPr lang="en-US" sz="950" dirty="0"/>
          </a:p>
        </p:txBody>
      </p:sp>
      <p:sp>
        <p:nvSpPr>
          <p:cNvPr id="14" name="Text 12"/>
          <p:cNvSpPr/>
          <p:nvPr/>
        </p:nvSpPr>
        <p:spPr>
          <a:xfrm>
            <a:off x="4983480" y="1965960"/>
            <a:ext cx="3566160" cy="2331720"/>
          </a:xfrm>
          <a:prstGeom prst="rect">
            <a:avLst/>
          </a:prstGeom>
          <a:noFill/>
          <a:ln/>
        </p:spPr>
        <p:txBody>
          <a:bodyPr wrap="square" rtlCol="0" anchor="ctr"/>
          <a:lstStyle/>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Herramientas específicas: Lesson Plan, Hook, Rubric Generator</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Generación rápida de un recurso puntual</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Ideal cuando sabes exactamente qué necesitas</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El mismo prompt funciona — solo cambia la herramienta</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Interfaz familiar para docentes</a:t>
            </a:r>
            <a:endParaRPr lang="en-US" sz="1050" dirty="0"/>
          </a:p>
        </p:txBody>
      </p:sp>
      <p:sp>
        <p:nvSpPr>
          <p:cNvPr id="15" name="Shape 13"/>
          <p:cNvSpPr/>
          <p:nvPr/>
        </p:nvSpPr>
        <p:spPr>
          <a:xfrm>
            <a:off x="4224528" y="2468880"/>
            <a:ext cx="502920" cy="502920"/>
          </a:xfrm>
          <a:prstGeom prst="ellipse">
            <a:avLst/>
          </a:prstGeom>
          <a:solidFill>
            <a:srgbClr val="F2F2F2"/>
          </a:solidFill>
          <a:ln w="12700">
            <a:solidFill>
              <a:srgbClr val="E4E4E4"/>
            </a:solidFill>
            <a:prstDash val="solid"/>
          </a:ln>
        </p:spPr>
      </p:sp>
      <p:sp>
        <p:nvSpPr>
          <p:cNvPr id="16" name="Text 14"/>
          <p:cNvSpPr/>
          <p:nvPr/>
        </p:nvSpPr>
        <p:spPr>
          <a:xfrm>
            <a:off x="4224528" y="2468880"/>
            <a:ext cx="502920" cy="502920"/>
          </a:xfrm>
          <a:prstGeom prst="rect">
            <a:avLst/>
          </a:prstGeom>
          <a:noFill/>
          <a:ln/>
        </p:spPr>
        <p:txBody>
          <a:bodyPr wrap="square" lIns="0" tIns="0" rIns="0" bIns="0" rtlCol="0" anchor="ctr"/>
          <a:lstStyle/>
          <a:p>
            <a:pPr algn="ctr" indent="0" marL="0">
              <a:buNone/>
            </a:pPr>
            <a:r>
              <a:rPr lang="en-US" sz="1200" b="1" dirty="0">
                <a:solidFill>
                  <a:srgbClr val="666666"/>
                </a:solidFill>
                <a:latin typeface="Trebuchet MS" pitchFamily="34" charset="0"/>
                <a:ea typeface="Trebuchet MS" pitchFamily="34" charset="-122"/>
                <a:cs typeface="Trebuchet MS" pitchFamily="34" charset="-120"/>
              </a:rPr>
              <a:t>o</a:t>
            </a:r>
            <a:endParaRPr lang="en-US" sz="1200" dirty="0"/>
          </a:p>
        </p:txBody>
      </p:sp>
      <p:sp>
        <p:nvSpPr>
          <p:cNvPr id="17" name="Text 15"/>
          <p:cNvSpPr/>
          <p:nvPr/>
        </p:nvSpPr>
        <p:spPr>
          <a:xfrm>
            <a:off x="457200" y="4892040"/>
            <a:ext cx="1828800" cy="201168"/>
          </a:xfrm>
          <a:prstGeom prst="rect">
            <a:avLst/>
          </a:prstGeom>
          <a:noFill/>
          <a:ln/>
        </p:spPr>
        <p:txBody>
          <a:bodyPr wrap="square" lIns="0" tIns="0" rIns="0" bIns="0" rtlCol="0" anchor="ctr"/>
          <a:lstStyle/>
          <a:p>
            <a:pPr indent="0" marL="0">
              <a:buNone/>
            </a:pPr>
            <a:r>
              <a:rPr lang="en-US" sz="800" dirty="0">
                <a:solidFill>
                  <a:srgbClr val="00B4D8"/>
                </a:solidFill>
                <a:latin typeface="Trebuchet MS" pitchFamily="34" charset="0"/>
                <a:ea typeface="Trebuchet MS" pitchFamily="34" charset="-122"/>
                <a:cs typeface="Trebuchet MS" pitchFamily="34" charset="-120"/>
              </a:rPr>
              <a:t>ETB.education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457200" y="137160"/>
            <a:ext cx="8229600" cy="237744"/>
          </a:xfrm>
          <a:prstGeom prst="rect">
            <a:avLst/>
          </a:prstGeom>
          <a:noFill/>
          <a:ln/>
        </p:spPr>
        <p:txBody>
          <a:bodyPr wrap="square" lIns="0" tIns="0" rIns="0" bIns="0" rtlCol="0" anchor="ctr"/>
          <a:lstStyle/>
          <a:p>
            <a:pPr indent="0" marL="0">
              <a:buNone/>
            </a:pPr>
            <a:r>
              <a:rPr lang="en-US" sz="800" spc="250" kern="0" dirty="0">
                <a:solidFill>
                  <a:srgbClr val="00B4D8"/>
                </a:solidFill>
                <a:latin typeface="Calibri" pitchFamily="34" charset="0"/>
                <a:ea typeface="Calibri" pitchFamily="34" charset="-122"/>
                <a:cs typeface="Calibri" pitchFamily="34" charset="-120"/>
              </a:rPr>
              <a:t>HERRAMIENTAS Y RECURSOS DEL WORKFLOW</a:t>
            </a:r>
            <a:endParaRPr lang="en-US" sz="800" dirty="0"/>
          </a:p>
        </p:txBody>
      </p:sp>
      <p:sp>
        <p:nvSpPr>
          <p:cNvPr id="4" name="Text 2"/>
          <p:cNvSpPr/>
          <p:nvPr/>
        </p:nvSpPr>
        <p:spPr>
          <a:xfrm>
            <a:off x="457200" y="38404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Escanea · Accede · Planifica</a:t>
            </a:r>
            <a:endParaRPr lang="en-US" sz="2400" dirty="0"/>
          </a:p>
        </p:txBody>
      </p:sp>
      <p:sp>
        <p:nvSpPr>
          <p:cNvPr id="5" name="Shape 3"/>
          <p:cNvSpPr/>
          <p:nvPr/>
        </p:nvSpPr>
        <p:spPr>
          <a:xfrm>
            <a:off x="411480" y="960120"/>
            <a:ext cx="2651760" cy="1783080"/>
          </a:xfrm>
          <a:prstGeom prst="rect">
            <a:avLst/>
          </a:prstGeom>
          <a:solidFill>
            <a:srgbClr val="161616"/>
          </a:solidFill>
          <a:ln w="12700">
            <a:solidFill>
              <a:srgbClr val="00B4D8"/>
            </a:solidFill>
            <a:prstDash val="solid"/>
          </a:ln>
        </p:spPr>
      </p:sp>
      <p:sp>
        <p:nvSpPr>
          <p:cNvPr id="6" name="Shape 4"/>
          <p:cNvSpPr/>
          <p:nvPr/>
        </p:nvSpPr>
        <p:spPr>
          <a:xfrm>
            <a:off x="411480" y="960120"/>
            <a:ext cx="45720" cy="1783080"/>
          </a:xfrm>
          <a:prstGeom prst="rect">
            <a:avLst/>
          </a:prstGeom>
          <a:solidFill>
            <a:srgbClr val="00B4D8"/>
          </a:solidFill>
          <a:ln w="12700">
            <a:solidFill>
              <a:srgbClr val="00B4D8"/>
            </a:solidFill>
            <a:prstDash val="solid"/>
          </a:ln>
        </p:spPr>
      </p:sp>
      <p:pic>
        <p:nvPicPr>
          <p:cNvPr id="7" name="Image 0" descr="preencoded.png">    </p:cNvPr>
          <p:cNvPicPr>
            <a:picLocks noChangeAspect="1"/>
          </p:cNvPicPr>
          <p:nvPr/>
        </p:nvPicPr>
        <p:blipFill>
          <a:blip r:embed="rId1"/>
          <a:stretch>
            <a:fillRect/>
          </a:stretch>
        </p:blipFill>
        <p:spPr>
          <a:xfrm>
            <a:off x="548640" y="1216152"/>
            <a:ext cx="1188720" cy="1188720"/>
          </a:xfrm>
          <a:prstGeom prst="rect">
            <a:avLst/>
          </a:prstGeom>
        </p:spPr>
      </p:pic>
      <p:sp>
        <p:nvSpPr>
          <p:cNvPr id="8" name="Text 5"/>
          <p:cNvSpPr/>
          <p:nvPr/>
        </p:nvSpPr>
        <p:spPr>
          <a:xfrm>
            <a:off x="1828800" y="1234440"/>
            <a:ext cx="1143000" cy="34747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NotebookLM</a:t>
            </a:r>
            <a:endParaRPr lang="en-US" sz="1200" dirty="0"/>
          </a:p>
        </p:txBody>
      </p:sp>
      <p:sp>
        <p:nvSpPr>
          <p:cNvPr id="9" name="Text 6"/>
          <p:cNvSpPr/>
          <p:nvPr/>
        </p:nvSpPr>
        <p:spPr>
          <a:xfrm>
            <a:off x="1828800" y="1600200"/>
            <a:ext cx="1143000" cy="502920"/>
          </a:xfrm>
          <a:prstGeom prst="rect">
            <a:avLst/>
          </a:prstGeom>
          <a:noFill/>
          <a:ln/>
        </p:spPr>
        <p:txBody>
          <a:bodyPr wrap="square" lIns="0" tIns="0" rIns="0" bIns="0" rtlCol="0" anchor="ctr"/>
          <a:lstStyle/>
          <a:p>
            <a:pPr indent="0" marL="0">
              <a:buNone/>
            </a:pPr>
            <a:r>
              <a:rPr lang="en-US" sz="800" i="1" dirty="0">
                <a:solidFill>
                  <a:srgbClr val="00B4D8"/>
                </a:solidFill>
                <a:latin typeface="Calibri" pitchFamily="34" charset="0"/>
                <a:ea typeface="Calibri" pitchFamily="34" charset="-122"/>
                <a:cs typeface="Calibri" pitchFamily="34" charset="-120"/>
              </a:rPr>
              <a:t>notebooklm.google.com</a:t>
            </a:r>
            <a:endParaRPr lang="en-US" sz="800" dirty="0"/>
          </a:p>
        </p:txBody>
      </p:sp>
      <p:sp>
        <p:nvSpPr>
          <p:cNvPr id="10" name="Shape 7"/>
          <p:cNvSpPr/>
          <p:nvPr/>
        </p:nvSpPr>
        <p:spPr>
          <a:xfrm>
            <a:off x="3246120" y="960120"/>
            <a:ext cx="2651760" cy="1783080"/>
          </a:xfrm>
          <a:prstGeom prst="rect">
            <a:avLst/>
          </a:prstGeom>
          <a:solidFill>
            <a:srgbClr val="161616"/>
          </a:solidFill>
          <a:ln w="12700">
            <a:solidFill>
              <a:srgbClr val="2DC653"/>
            </a:solidFill>
            <a:prstDash val="solid"/>
          </a:ln>
        </p:spPr>
      </p:sp>
      <p:sp>
        <p:nvSpPr>
          <p:cNvPr id="11" name="Shape 8"/>
          <p:cNvSpPr/>
          <p:nvPr/>
        </p:nvSpPr>
        <p:spPr>
          <a:xfrm>
            <a:off x="3246120" y="960120"/>
            <a:ext cx="45720" cy="1783080"/>
          </a:xfrm>
          <a:prstGeom prst="rect">
            <a:avLst/>
          </a:prstGeom>
          <a:solidFill>
            <a:srgbClr val="2DC653"/>
          </a:solidFill>
          <a:ln w="12700">
            <a:solidFill>
              <a:srgbClr val="2DC653"/>
            </a:solidFill>
            <a:prstDash val="solid"/>
          </a:ln>
        </p:spPr>
      </p:sp>
      <p:pic>
        <p:nvPicPr>
          <p:cNvPr id="12" name="Image 1" descr="preencoded.png">    </p:cNvPr>
          <p:cNvPicPr>
            <a:picLocks noChangeAspect="1"/>
          </p:cNvPicPr>
          <p:nvPr/>
        </p:nvPicPr>
        <p:blipFill>
          <a:blip r:embed="rId2"/>
          <a:stretch>
            <a:fillRect/>
          </a:stretch>
        </p:blipFill>
        <p:spPr>
          <a:xfrm>
            <a:off x="3383280" y="1216152"/>
            <a:ext cx="1188720" cy="1188720"/>
          </a:xfrm>
          <a:prstGeom prst="rect">
            <a:avLst/>
          </a:prstGeom>
        </p:spPr>
      </p:pic>
      <p:sp>
        <p:nvSpPr>
          <p:cNvPr id="13" name="Text 9"/>
          <p:cNvSpPr/>
          <p:nvPr/>
        </p:nvSpPr>
        <p:spPr>
          <a:xfrm>
            <a:off x="4663440" y="1234440"/>
            <a:ext cx="1143000" cy="34747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Magisterium AI</a:t>
            </a:r>
            <a:endParaRPr lang="en-US" sz="1200" dirty="0"/>
          </a:p>
        </p:txBody>
      </p:sp>
      <p:sp>
        <p:nvSpPr>
          <p:cNvPr id="14" name="Text 10"/>
          <p:cNvSpPr/>
          <p:nvPr/>
        </p:nvSpPr>
        <p:spPr>
          <a:xfrm>
            <a:off x="4663440" y="1600200"/>
            <a:ext cx="1143000" cy="502920"/>
          </a:xfrm>
          <a:prstGeom prst="rect">
            <a:avLst/>
          </a:prstGeom>
          <a:noFill/>
          <a:ln/>
        </p:spPr>
        <p:txBody>
          <a:bodyPr wrap="square" lIns="0" tIns="0" rIns="0" bIns="0" rtlCol="0" anchor="ctr"/>
          <a:lstStyle/>
          <a:p>
            <a:pPr indent="0" marL="0">
              <a:buNone/>
            </a:pPr>
            <a:r>
              <a:rPr lang="en-US" sz="800" i="1" dirty="0">
                <a:solidFill>
                  <a:srgbClr val="2DC653"/>
                </a:solidFill>
                <a:latin typeface="Calibri" pitchFamily="34" charset="0"/>
                <a:ea typeface="Calibri" pitchFamily="34" charset="-122"/>
                <a:cs typeface="Calibri" pitchFamily="34" charset="-120"/>
              </a:rPr>
              <a:t>magisteriumai.com</a:t>
            </a:r>
            <a:endParaRPr lang="en-US" sz="800" dirty="0"/>
          </a:p>
        </p:txBody>
      </p:sp>
      <p:sp>
        <p:nvSpPr>
          <p:cNvPr id="15" name="Shape 11"/>
          <p:cNvSpPr/>
          <p:nvPr/>
        </p:nvSpPr>
        <p:spPr>
          <a:xfrm>
            <a:off x="6080760" y="960120"/>
            <a:ext cx="2651760" cy="1783080"/>
          </a:xfrm>
          <a:prstGeom prst="rect">
            <a:avLst/>
          </a:prstGeom>
          <a:solidFill>
            <a:srgbClr val="161616"/>
          </a:solidFill>
          <a:ln w="12700">
            <a:solidFill>
              <a:srgbClr val="F4A01C"/>
            </a:solidFill>
            <a:prstDash val="solid"/>
          </a:ln>
        </p:spPr>
      </p:sp>
      <p:sp>
        <p:nvSpPr>
          <p:cNvPr id="16" name="Shape 12"/>
          <p:cNvSpPr/>
          <p:nvPr/>
        </p:nvSpPr>
        <p:spPr>
          <a:xfrm>
            <a:off x="6080760" y="960120"/>
            <a:ext cx="45720" cy="1783080"/>
          </a:xfrm>
          <a:prstGeom prst="rect">
            <a:avLst/>
          </a:prstGeom>
          <a:solidFill>
            <a:srgbClr val="F4A01C"/>
          </a:solidFill>
          <a:ln w="12700">
            <a:solidFill>
              <a:srgbClr val="F4A01C"/>
            </a:solidFill>
            <a:prstDash val="solid"/>
          </a:ln>
        </p:spPr>
      </p:sp>
      <p:pic>
        <p:nvPicPr>
          <p:cNvPr id="17" name="Image 2" descr="preencoded.png">    </p:cNvPr>
          <p:cNvPicPr>
            <a:picLocks noChangeAspect="1"/>
          </p:cNvPicPr>
          <p:nvPr/>
        </p:nvPicPr>
        <p:blipFill>
          <a:blip r:embed="rId3"/>
          <a:stretch>
            <a:fillRect/>
          </a:stretch>
        </p:blipFill>
        <p:spPr>
          <a:xfrm>
            <a:off x="6217920" y="1216152"/>
            <a:ext cx="1188720" cy="1188720"/>
          </a:xfrm>
          <a:prstGeom prst="rect">
            <a:avLst/>
          </a:prstGeom>
        </p:spPr>
      </p:pic>
      <p:sp>
        <p:nvSpPr>
          <p:cNvPr id="18" name="Text 13"/>
          <p:cNvSpPr/>
          <p:nvPr/>
        </p:nvSpPr>
        <p:spPr>
          <a:xfrm>
            <a:off x="7498080" y="1234440"/>
            <a:ext cx="1143000" cy="34747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Plataforma Editorial</a:t>
            </a:r>
            <a:endParaRPr lang="en-US" sz="1200" dirty="0"/>
          </a:p>
        </p:txBody>
      </p:sp>
      <p:sp>
        <p:nvSpPr>
          <p:cNvPr id="19" name="Text 14"/>
          <p:cNvSpPr/>
          <p:nvPr/>
        </p:nvSpPr>
        <p:spPr>
          <a:xfrm>
            <a:off x="7498080" y="1600200"/>
            <a:ext cx="1143000" cy="502920"/>
          </a:xfrm>
          <a:prstGeom prst="rect">
            <a:avLst/>
          </a:prstGeom>
          <a:noFill/>
          <a:ln/>
        </p:spPr>
        <p:txBody>
          <a:bodyPr wrap="square" lIns="0" tIns="0" rIns="0" bIns="0" rtlCol="0" anchor="ctr"/>
          <a:lstStyle/>
          <a:p>
            <a:pPr indent="0" marL="0">
              <a:buNone/>
            </a:pPr>
            <a:r>
              <a:rPr lang="en-US" sz="800" i="1" dirty="0">
                <a:solidFill>
                  <a:srgbClr val="F4A01C"/>
                </a:solidFill>
                <a:latin typeface="Calibri" pitchFamily="34" charset="0"/>
                <a:ea typeface="Calibri" pitchFamily="34" charset="-122"/>
                <a:cs typeface="Calibri" pitchFamily="34" charset="-120"/>
              </a:rPr>
              <a:t>edicionessm.com</a:t>
            </a:r>
            <a:endParaRPr lang="en-US" sz="800" dirty="0"/>
          </a:p>
        </p:txBody>
      </p:sp>
      <p:sp>
        <p:nvSpPr>
          <p:cNvPr id="20" name="Shape 15"/>
          <p:cNvSpPr/>
          <p:nvPr/>
        </p:nvSpPr>
        <p:spPr>
          <a:xfrm>
            <a:off x="411480" y="2907792"/>
            <a:ext cx="2651760" cy="1783080"/>
          </a:xfrm>
          <a:prstGeom prst="rect">
            <a:avLst/>
          </a:prstGeom>
          <a:solidFill>
            <a:srgbClr val="161616"/>
          </a:solidFill>
          <a:ln w="12700">
            <a:solidFill>
              <a:srgbClr val="7B5EA7"/>
            </a:solidFill>
            <a:prstDash val="solid"/>
          </a:ln>
        </p:spPr>
      </p:sp>
      <p:sp>
        <p:nvSpPr>
          <p:cNvPr id="21" name="Shape 16"/>
          <p:cNvSpPr/>
          <p:nvPr/>
        </p:nvSpPr>
        <p:spPr>
          <a:xfrm>
            <a:off x="411480" y="2907792"/>
            <a:ext cx="45720" cy="1783080"/>
          </a:xfrm>
          <a:prstGeom prst="rect">
            <a:avLst/>
          </a:prstGeom>
          <a:solidFill>
            <a:srgbClr val="7B5EA7"/>
          </a:solidFill>
          <a:ln w="12700">
            <a:solidFill>
              <a:srgbClr val="7B5EA7"/>
            </a:solidFill>
            <a:prstDash val="solid"/>
          </a:ln>
        </p:spPr>
      </p:sp>
      <p:pic>
        <p:nvPicPr>
          <p:cNvPr id="22" name="Image 3" descr="preencoded.png">    </p:cNvPr>
          <p:cNvPicPr>
            <a:picLocks noChangeAspect="1"/>
          </p:cNvPicPr>
          <p:nvPr/>
        </p:nvPicPr>
        <p:blipFill>
          <a:blip r:embed="rId4"/>
          <a:stretch>
            <a:fillRect/>
          </a:stretch>
        </p:blipFill>
        <p:spPr>
          <a:xfrm>
            <a:off x="548640" y="3163824"/>
            <a:ext cx="1188720" cy="1188720"/>
          </a:xfrm>
          <a:prstGeom prst="rect">
            <a:avLst/>
          </a:prstGeom>
        </p:spPr>
      </p:pic>
      <p:sp>
        <p:nvSpPr>
          <p:cNvPr id="23" name="Text 17"/>
          <p:cNvSpPr/>
          <p:nvPr/>
        </p:nvSpPr>
        <p:spPr>
          <a:xfrm>
            <a:off x="1828800" y="3182112"/>
            <a:ext cx="1143000" cy="34747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MagicSchool AI</a:t>
            </a:r>
            <a:endParaRPr lang="en-US" sz="1200" dirty="0"/>
          </a:p>
        </p:txBody>
      </p:sp>
      <p:sp>
        <p:nvSpPr>
          <p:cNvPr id="24" name="Text 18"/>
          <p:cNvSpPr/>
          <p:nvPr/>
        </p:nvSpPr>
        <p:spPr>
          <a:xfrm>
            <a:off x="1828800" y="3547872"/>
            <a:ext cx="1143000" cy="502920"/>
          </a:xfrm>
          <a:prstGeom prst="rect">
            <a:avLst/>
          </a:prstGeom>
          <a:noFill/>
          <a:ln/>
        </p:spPr>
        <p:txBody>
          <a:bodyPr wrap="square" lIns="0" tIns="0" rIns="0" bIns="0" rtlCol="0" anchor="ctr"/>
          <a:lstStyle/>
          <a:p>
            <a:pPr indent="0" marL="0">
              <a:buNone/>
            </a:pPr>
            <a:r>
              <a:rPr lang="en-US" sz="800" i="1" dirty="0">
                <a:solidFill>
                  <a:srgbClr val="7B5EA7"/>
                </a:solidFill>
                <a:latin typeface="Calibri" pitchFamily="34" charset="0"/>
                <a:ea typeface="Calibri" pitchFamily="34" charset="-122"/>
                <a:cs typeface="Calibri" pitchFamily="34" charset="-120"/>
              </a:rPr>
              <a:t>magicschool.ai</a:t>
            </a:r>
            <a:endParaRPr lang="en-US" sz="800" dirty="0"/>
          </a:p>
        </p:txBody>
      </p:sp>
      <p:sp>
        <p:nvSpPr>
          <p:cNvPr id="25" name="Shape 19"/>
          <p:cNvSpPr/>
          <p:nvPr/>
        </p:nvSpPr>
        <p:spPr>
          <a:xfrm>
            <a:off x="3246120" y="2907792"/>
            <a:ext cx="2651760" cy="1783080"/>
          </a:xfrm>
          <a:prstGeom prst="rect">
            <a:avLst/>
          </a:prstGeom>
          <a:solidFill>
            <a:srgbClr val="161616"/>
          </a:solidFill>
          <a:ln w="12700">
            <a:solidFill>
              <a:srgbClr val="0096B7"/>
            </a:solidFill>
            <a:prstDash val="solid"/>
          </a:ln>
        </p:spPr>
      </p:sp>
      <p:sp>
        <p:nvSpPr>
          <p:cNvPr id="26" name="Shape 20"/>
          <p:cNvSpPr/>
          <p:nvPr/>
        </p:nvSpPr>
        <p:spPr>
          <a:xfrm>
            <a:off x="3246120" y="2907792"/>
            <a:ext cx="45720" cy="1783080"/>
          </a:xfrm>
          <a:prstGeom prst="rect">
            <a:avLst/>
          </a:prstGeom>
          <a:solidFill>
            <a:srgbClr val="0096B7"/>
          </a:solidFill>
          <a:ln w="12700">
            <a:solidFill>
              <a:srgbClr val="0096B7"/>
            </a:solidFill>
            <a:prstDash val="solid"/>
          </a:ln>
        </p:spPr>
      </p:sp>
      <p:pic>
        <p:nvPicPr>
          <p:cNvPr id="27" name="Image 4" descr="preencoded.png">    </p:cNvPr>
          <p:cNvPicPr>
            <a:picLocks noChangeAspect="1"/>
          </p:cNvPicPr>
          <p:nvPr/>
        </p:nvPicPr>
        <p:blipFill>
          <a:blip r:embed="rId5"/>
          <a:stretch>
            <a:fillRect/>
          </a:stretch>
        </p:blipFill>
        <p:spPr>
          <a:xfrm>
            <a:off x="3383280" y="3163824"/>
            <a:ext cx="1188720" cy="1188720"/>
          </a:xfrm>
          <a:prstGeom prst="rect">
            <a:avLst/>
          </a:prstGeom>
        </p:spPr>
      </p:pic>
      <p:sp>
        <p:nvSpPr>
          <p:cNvPr id="28" name="Text 21"/>
          <p:cNvSpPr/>
          <p:nvPr/>
        </p:nvSpPr>
        <p:spPr>
          <a:xfrm>
            <a:off x="4663440" y="3182112"/>
            <a:ext cx="1143000" cy="34747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CopilotERE</a:t>
            </a:r>
            <a:endParaRPr lang="en-US" sz="1200" dirty="0"/>
          </a:p>
        </p:txBody>
      </p:sp>
      <p:sp>
        <p:nvSpPr>
          <p:cNvPr id="29" name="Text 22"/>
          <p:cNvSpPr/>
          <p:nvPr/>
        </p:nvSpPr>
        <p:spPr>
          <a:xfrm>
            <a:off x="4663440" y="3547872"/>
            <a:ext cx="1143000" cy="502920"/>
          </a:xfrm>
          <a:prstGeom prst="rect">
            <a:avLst/>
          </a:prstGeom>
          <a:noFill/>
          <a:ln/>
        </p:spPr>
        <p:txBody>
          <a:bodyPr wrap="square" lIns="0" tIns="0" rIns="0" bIns="0" rtlCol="0" anchor="ctr"/>
          <a:lstStyle/>
          <a:p>
            <a:pPr indent="0" marL="0">
              <a:buNone/>
            </a:pPr>
            <a:r>
              <a:rPr lang="en-US" sz="800" i="1" dirty="0">
                <a:solidFill>
                  <a:srgbClr val="0096B7"/>
                </a:solidFill>
                <a:latin typeface="Calibri" pitchFamily="34" charset="0"/>
                <a:ea typeface="Calibri" pitchFamily="34" charset="-122"/>
                <a:cs typeface="Calibri" pitchFamily="34" charset="-120"/>
              </a:rPr>
              <a:t>chatgpt.com/g/g-NPtdk5rJ0</a:t>
            </a:r>
            <a:endParaRPr lang="en-US" sz="800" dirty="0"/>
          </a:p>
        </p:txBody>
      </p:sp>
      <p:sp>
        <p:nvSpPr>
          <p:cNvPr id="30" name="Shape 23"/>
          <p:cNvSpPr/>
          <p:nvPr/>
        </p:nvSpPr>
        <p:spPr>
          <a:xfrm>
            <a:off x="6080760" y="2907792"/>
            <a:ext cx="2651760" cy="1783080"/>
          </a:xfrm>
          <a:prstGeom prst="rect">
            <a:avLst/>
          </a:prstGeom>
          <a:solidFill>
            <a:srgbClr val="161616"/>
          </a:solidFill>
          <a:ln w="12700">
            <a:solidFill>
              <a:srgbClr val="0D0D0D"/>
            </a:solidFill>
            <a:prstDash val="solid"/>
          </a:ln>
        </p:spPr>
      </p:sp>
      <p:sp>
        <p:nvSpPr>
          <p:cNvPr id="31" name="Shape 24"/>
          <p:cNvSpPr/>
          <p:nvPr/>
        </p:nvSpPr>
        <p:spPr>
          <a:xfrm>
            <a:off x="6080760" y="2907792"/>
            <a:ext cx="45720" cy="1783080"/>
          </a:xfrm>
          <a:prstGeom prst="rect">
            <a:avLst/>
          </a:prstGeom>
          <a:solidFill>
            <a:srgbClr val="0D0D0D"/>
          </a:solidFill>
          <a:ln w="12700">
            <a:solidFill>
              <a:srgbClr val="0D0D0D"/>
            </a:solidFill>
            <a:prstDash val="solid"/>
          </a:ln>
        </p:spPr>
      </p:sp>
      <p:pic>
        <p:nvPicPr>
          <p:cNvPr id="32" name="Image 5" descr="preencoded.png">    </p:cNvPr>
          <p:cNvPicPr>
            <a:picLocks noChangeAspect="1"/>
          </p:cNvPicPr>
          <p:nvPr/>
        </p:nvPicPr>
        <p:blipFill>
          <a:blip r:embed="rId6"/>
          <a:stretch>
            <a:fillRect/>
          </a:stretch>
        </p:blipFill>
        <p:spPr>
          <a:xfrm>
            <a:off x="6217920" y="3163824"/>
            <a:ext cx="1188720" cy="1188720"/>
          </a:xfrm>
          <a:prstGeom prst="rect">
            <a:avLst/>
          </a:prstGeom>
        </p:spPr>
      </p:pic>
      <p:sp>
        <p:nvSpPr>
          <p:cNvPr id="33" name="Text 25"/>
          <p:cNvSpPr/>
          <p:nvPr/>
        </p:nvSpPr>
        <p:spPr>
          <a:xfrm>
            <a:off x="7498080" y="3182112"/>
            <a:ext cx="1143000" cy="34747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ETB · Recursos</a:t>
            </a:r>
            <a:endParaRPr lang="en-US" sz="1200" dirty="0"/>
          </a:p>
        </p:txBody>
      </p:sp>
      <p:sp>
        <p:nvSpPr>
          <p:cNvPr id="34" name="Text 26"/>
          <p:cNvSpPr/>
          <p:nvPr/>
        </p:nvSpPr>
        <p:spPr>
          <a:xfrm>
            <a:off x="7498080" y="3547872"/>
            <a:ext cx="1143000" cy="502920"/>
          </a:xfrm>
          <a:prstGeom prst="rect">
            <a:avLst/>
          </a:prstGeom>
          <a:noFill/>
          <a:ln/>
        </p:spPr>
        <p:txBody>
          <a:bodyPr wrap="square" lIns="0" tIns="0" rIns="0" bIns="0" rtlCol="0" anchor="ctr"/>
          <a:lstStyle/>
          <a:p>
            <a:pPr indent="0" marL="0">
              <a:buNone/>
            </a:pPr>
            <a:r>
              <a:rPr lang="en-US" sz="800" i="1" dirty="0">
                <a:solidFill>
                  <a:srgbClr val="00B4D8"/>
                </a:solidFill>
                <a:latin typeface="Calibri" pitchFamily="34" charset="0"/>
                <a:ea typeface="Calibri" pitchFamily="34" charset="-122"/>
                <a:cs typeface="Calibri" pitchFamily="34" charset="-120"/>
              </a:rPr>
              <a:t>etbeducation.github.io/workflow-ia-religion</a:t>
            </a:r>
            <a:endParaRPr lang="en-US" sz="800" dirty="0"/>
          </a:p>
        </p:txBody>
      </p:sp>
      <p:sp>
        <p:nvSpPr>
          <p:cNvPr id="35" name="Shape 27"/>
          <p:cNvSpPr/>
          <p:nvPr/>
        </p:nvSpPr>
        <p:spPr>
          <a:xfrm>
            <a:off x="0" y="4773168"/>
            <a:ext cx="9144000" cy="36576"/>
          </a:xfrm>
          <a:prstGeom prst="rect">
            <a:avLst/>
          </a:prstGeom>
          <a:solidFill>
            <a:srgbClr val="00B4D8"/>
          </a:solidFill>
          <a:ln w="12700">
            <a:solidFill>
              <a:srgbClr val="00B4D8"/>
            </a:solidFill>
            <a:prstDash val="solid"/>
          </a:ln>
        </p:spPr>
      </p:sp>
      <p:sp>
        <p:nvSpPr>
          <p:cNvPr id="36" name="Text 28"/>
          <p:cNvSpPr/>
          <p:nvPr/>
        </p:nvSpPr>
        <p:spPr>
          <a:xfrm>
            <a:off x="457200" y="4846320"/>
            <a:ext cx="8229600" cy="228600"/>
          </a:xfrm>
          <a:prstGeom prst="rect">
            <a:avLst/>
          </a:prstGeom>
          <a:noFill/>
          <a:ln/>
        </p:spPr>
        <p:txBody>
          <a:bodyPr wrap="square" lIns="0" tIns="0" rIns="0" bIns="0" rtlCol="0" anchor="ctr"/>
          <a:lstStyle/>
          <a:p>
            <a:pPr algn="ctr" indent="0" marL="0">
              <a:buNone/>
            </a:pPr>
            <a:r>
              <a:rPr lang="en-US" sz="750" dirty="0">
                <a:solidFill>
                  <a:srgbClr val="444444"/>
                </a:solidFill>
                <a:latin typeface="Calibri" pitchFamily="34" charset="0"/>
                <a:ea typeface="Calibri" pitchFamily="34" charset="-122"/>
                <a:cs typeface="Calibri" pitchFamily="34" charset="-120"/>
              </a:rPr>
              <a:t>[EdTech Believers] ETB.education · Empowering Education for the Digital Age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0B4D8">
              <a:alpha val="7000"/>
            </a:srgbClr>
          </a:solidFill>
          <a:ln w="12700">
            <a:solidFill>
              <a:srgbClr val="00B4D8">
                <a:alpha val="0"/>
              </a:srgbClr>
            </a:solidFill>
            <a:prstDash val="solid"/>
          </a:ln>
        </p:spPr>
      </p:sp>
      <p:sp>
        <p:nvSpPr>
          <p:cNvPr id="3" name="Shape 1"/>
          <p:cNvSpPr/>
          <p:nvPr/>
        </p:nvSpPr>
        <p:spPr>
          <a:xfrm>
            <a:off x="0" y="4754880"/>
            <a:ext cx="9144000" cy="64008"/>
          </a:xfrm>
          <a:prstGeom prst="rect">
            <a:avLst/>
          </a:prstGeom>
          <a:solidFill>
            <a:srgbClr val="00B4D8"/>
          </a:solidFill>
          <a:ln w="12700">
            <a:solidFill>
              <a:srgbClr val="00B4D8"/>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347472"/>
            <a:ext cx="548640" cy="548640"/>
          </a:xfrm>
          <a:prstGeom prst="rect">
            <a:avLst/>
          </a:prstGeom>
        </p:spPr>
      </p:pic>
      <p:sp>
        <p:nvSpPr>
          <p:cNvPr id="5" name="Text 2"/>
          <p:cNvSpPr/>
          <p:nvPr/>
        </p:nvSpPr>
        <p:spPr>
          <a:xfrm>
            <a:off x="1143000" y="384048"/>
            <a:ext cx="3200400" cy="329184"/>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ETB</a:t>
            </a:r>
            <a:pPr indent="0" marL="0">
              <a:buNone/>
            </a:pPr>
            <a:r>
              <a:rPr lang="en-US" sz="1500" dirty="0">
                <a:solidFill>
                  <a:srgbClr val="00B4D8"/>
                </a:solidFill>
                <a:latin typeface="Trebuchet MS" pitchFamily="34" charset="0"/>
                <a:ea typeface="Trebuchet MS" pitchFamily="34" charset="-122"/>
                <a:cs typeface="Trebuchet MS" pitchFamily="34" charset="-120"/>
              </a:rPr>
              <a:t>.education</a:t>
            </a:r>
            <a:endParaRPr lang="en-US" sz="1500" dirty="0"/>
          </a:p>
        </p:txBody>
      </p:sp>
      <p:sp>
        <p:nvSpPr>
          <p:cNvPr id="6" name="Text 3"/>
          <p:cNvSpPr/>
          <p:nvPr/>
        </p:nvSpPr>
        <p:spPr>
          <a:xfrm>
            <a:off x="502920" y="1051560"/>
            <a:ext cx="8229600" cy="256032"/>
          </a:xfrm>
          <a:prstGeom prst="rect">
            <a:avLst/>
          </a:prstGeom>
          <a:noFill/>
          <a:ln/>
        </p:spPr>
        <p:txBody>
          <a:bodyPr wrap="square" lIns="0" tIns="0" rIns="0" bIns="0" rtlCol="0" anchor="ctr"/>
          <a:lstStyle/>
          <a:p>
            <a:pPr indent="0" marL="0">
              <a:buNone/>
            </a:pPr>
            <a:r>
              <a:rPr lang="en-US" sz="850" spc="250" kern="0" dirty="0">
                <a:solidFill>
                  <a:srgbClr val="00B4D8"/>
                </a:solidFill>
                <a:latin typeface="Calibri" pitchFamily="34" charset="0"/>
                <a:ea typeface="Calibri" pitchFamily="34" charset="-122"/>
                <a:cs typeface="Calibri" pitchFamily="34" charset="-120"/>
              </a:rPr>
              <a:t>EL WORKFLOW ES TUYO — ÚSALO ESTA SEMANA</a:t>
            </a:r>
            <a:endParaRPr lang="en-US" sz="850" dirty="0"/>
          </a:p>
        </p:txBody>
      </p:sp>
      <p:sp>
        <p:nvSpPr>
          <p:cNvPr id="7" name="Text 4"/>
          <p:cNvSpPr/>
          <p:nvPr/>
        </p:nvSpPr>
        <p:spPr>
          <a:xfrm>
            <a:off x="502920" y="1371600"/>
            <a:ext cx="7772400" cy="109728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Un borrador inteligente.</a:t>
            </a:r>
            <a:endParaRPr lang="en-US" sz="3400" dirty="0"/>
          </a:p>
          <a:p>
            <a:pPr indent="0" marL="0">
              <a:buNone/>
            </a:pPr>
            <a:r>
              <a:rPr lang="en-US" sz="3400" b="1" dirty="0">
                <a:solidFill>
                  <a:srgbClr val="FFFFFF"/>
                </a:solidFill>
                <a:latin typeface="Trebuchet MS" pitchFamily="34" charset="0"/>
                <a:ea typeface="Trebuchet MS" pitchFamily="34" charset="-122"/>
                <a:cs typeface="Trebuchet MS" pitchFamily="34" charset="-120"/>
              </a:rPr>
              <a:t>Tú produces la lección.</a:t>
            </a:r>
            <a:endParaRPr lang="en-US" sz="3400" dirty="0"/>
          </a:p>
        </p:txBody>
      </p:sp>
      <p:sp>
        <p:nvSpPr>
          <p:cNvPr id="8" name="Shape 5"/>
          <p:cNvSpPr/>
          <p:nvPr/>
        </p:nvSpPr>
        <p:spPr>
          <a:xfrm>
            <a:off x="457200" y="2697480"/>
            <a:ext cx="1481328" cy="594360"/>
          </a:xfrm>
          <a:prstGeom prst="rect">
            <a:avLst/>
          </a:prstGeom>
          <a:solidFill>
            <a:srgbClr val="1A1A1A"/>
          </a:solidFill>
          <a:ln w="12700">
            <a:solidFill>
              <a:srgbClr val="00B4D8"/>
            </a:solidFill>
            <a:prstDash val="solid"/>
          </a:ln>
        </p:spPr>
      </p:sp>
      <p:sp>
        <p:nvSpPr>
          <p:cNvPr id="9" name="Shape 6"/>
          <p:cNvSpPr/>
          <p:nvPr/>
        </p:nvSpPr>
        <p:spPr>
          <a:xfrm>
            <a:off x="457200" y="2697480"/>
            <a:ext cx="45720" cy="594360"/>
          </a:xfrm>
          <a:prstGeom prst="rect">
            <a:avLst/>
          </a:prstGeom>
          <a:solidFill>
            <a:srgbClr val="00B4D8"/>
          </a:solidFill>
          <a:ln w="12700">
            <a:solidFill>
              <a:srgbClr val="00B4D8"/>
            </a:solidFill>
            <a:prstDash val="solid"/>
          </a:ln>
        </p:spPr>
      </p:sp>
      <p:sp>
        <p:nvSpPr>
          <p:cNvPr id="10" name="Text 7"/>
          <p:cNvSpPr/>
          <p:nvPr/>
        </p:nvSpPr>
        <p:spPr>
          <a:xfrm>
            <a:off x="548640" y="2752344"/>
            <a:ext cx="365760" cy="182880"/>
          </a:xfrm>
          <a:prstGeom prst="rect">
            <a:avLst/>
          </a:prstGeom>
          <a:noFill/>
          <a:ln/>
        </p:spPr>
        <p:txBody>
          <a:bodyPr wrap="square" lIns="0" tIns="0" rIns="0" bIns="0" rtlCol="0" anchor="ctr"/>
          <a:lstStyle/>
          <a:p>
            <a:pPr indent="0" marL="0">
              <a:buNone/>
            </a:pPr>
            <a:r>
              <a:rPr lang="en-US" sz="700" b="1" dirty="0">
                <a:solidFill>
                  <a:srgbClr val="00B4D8"/>
                </a:solidFill>
                <a:latin typeface="Calibri" pitchFamily="34" charset="0"/>
                <a:ea typeface="Calibri" pitchFamily="34" charset="-122"/>
                <a:cs typeface="Calibri" pitchFamily="34" charset="-120"/>
              </a:rPr>
              <a:t>00</a:t>
            </a:r>
            <a:endParaRPr lang="en-US" sz="700" dirty="0"/>
          </a:p>
        </p:txBody>
      </p:sp>
      <p:sp>
        <p:nvSpPr>
          <p:cNvPr id="11" name="Text 8"/>
          <p:cNvSpPr/>
          <p:nvPr/>
        </p:nvSpPr>
        <p:spPr>
          <a:xfrm>
            <a:off x="548640" y="2953512"/>
            <a:ext cx="1316736"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Libro</a:t>
            </a:r>
            <a:endParaRPr lang="en-US" sz="900" dirty="0"/>
          </a:p>
        </p:txBody>
      </p:sp>
      <p:sp>
        <p:nvSpPr>
          <p:cNvPr id="12" name="Shape 9"/>
          <p:cNvSpPr/>
          <p:nvPr/>
        </p:nvSpPr>
        <p:spPr>
          <a:xfrm>
            <a:off x="1938528" y="2994660"/>
            <a:ext cx="109728" cy="0"/>
          </a:xfrm>
          <a:prstGeom prst="line">
            <a:avLst/>
          </a:prstGeom>
          <a:noFill/>
          <a:ln w="12700">
            <a:solidFill>
              <a:srgbClr val="444444"/>
            </a:solidFill>
            <a:prstDash val="solid"/>
          </a:ln>
        </p:spPr>
      </p:sp>
      <p:sp>
        <p:nvSpPr>
          <p:cNvPr id="13" name="Shape 10"/>
          <p:cNvSpPr/>
          <p:nvPr/>
        </p:nvSpPr>
        <p:spPr>
          <a:xfrm>
            <a:off x="2048256" y="2697480"/>
            <a:ext cx="1481328" cy="594360"/>
          </a:xfrm>
          <a:prstGeom prst="rect">
            <a:avLst/>
          </a:prstGeom>
          <a:solidFill>
            <a:srgbClr val="1A1A1A"/>
          </a:solidFill>
          <a:ln w="12700">
            <a:solidFill>
              <a:srgbClr val="0096B7"/>
            </a:solidFill>
            <a:prstDash val="solid"/>
          </a:ln>
        </p:spPr>
      </p:sp>
      <p:sp>
        <p:nvSpPr>
          <p:cNvPr id="14" name="Shape 11"/>
          <p:cNvSpPr/>
          <p:nvPr/>
        </p:nvSpPr>
        <p:spPr>
          <a:xfrm>
            <a:off x="2048256" y="2697480"/>
            <a:ext cx="45720" cy="594360"/>
          </a:xfrm>
          <a:prstGeom prst="rect">
            <a:avLst/>
          </a:prstGeom>
          <a:solidFill>
            <a:srgbClr val="0096B7"/>
          </a:solidFill>
          <a:ln w="12700">
            <a:solidFill>
              <a:srgbClr val="0096B7"/>
            </a:solidFill>
            <a:prstDash val="solid"/>
          </a:ln>
        </p:spPr>
      </p:sp>
      <p:sp>
        <p:nvSpPr>
          <p:cNvPr id="15" name="Text 12"/>
          <p:cNvSpPr/>
          <p:nvPr/>
        </p:nvSpPr>
        <p:spPr>
          <a:xfrm>
            <a:off x="2139696" y="2752344"/>
            <a:ext cx="365760" cy="182880"/>
          </a:xfrm>
          <a:prstGeom prst="rect">
            <a:avLst/>
          </a:prstGeom>
          <a:noFill/>
          <a:ln/>
        </p:spPr>
        <p:txBody>
          <a:bodyPr wrap="square" lIns="0" tIns="0" rIns="0" bIns="0" rtlCol="0" anchor="ctr"/>
          <a:lstStyle/>
          <a:p>
            <a:pPr indent="0" marL="0">
              <a:buNone/>
            </a:pPr>
            <a:r>
              <a:rPr lang="en-US" sz="700" b="1" dirty="0">
                <a:solidFill>
                  <a:srgbClr val="0096B7"/>
                </a:solidFill>
                <a:latin typeface="Calibri" pitchFamily="34" charset="0"/>
                <a:ea typeface="Calibri" pitchFamily="34" charset="-122"/>
                <a:cs typeface="Calibri" pitchFamily="34" charset="-120"/>
              </a:rPr>
              <a:t>01</a:t>
            </a:r>
            <a:endParaRPr lang="en-US" sz="700" dirty="0"/>
          </a:p>
        </p:txBody>
      </p:sp>
      <p:sp>
        <p:nvSpPr>
          <p:cNvPr id="16" name="Text 13"/>
          <p:cNvSpPr/>
          <p:nvPr/>
        </p:nvSpPr>
        <p:spPr>
          <a:xfrm>
            <a:off x="2139696" y="2953512"/>
            <a:ext cx="1316736"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NotebookLM</a:t>
            </a:r>
            <a:endParaRPr lang="en-US" sz="900" dirty="0"/>
          </a:p>
        </p:txBody>
      </p:sp>
      <p:sp>
        <p:nvSpPr>
          <p:cNvPr id="17" name="Shape 14"/>
          <p:cNvSpPr/>
          <p:nvPr/>
        </p:nvSpPr>
        <p:spPr>
          <a:xfrm>
            <a:off x="3529584" y="2994660"/>
            <a:ext cx="109728" cy="0"/>
          </a:xfrm>
          <a:prstGeom prst="line">
            <a:avLst/>
          </a:prstGeom>
          <a:noFill/>
          <a:ln w="12700">
            <a:solidFill>
              <a:srgbClr val="444444"/>
            </a:solidFill>
            <a:prstDash val="solid"/>
          </a:ln>
        </p:spPr>
      </p:sp>
      <p:sp>
        <p:nvSpPr>
          <p:cNvPr id="18" name="Shape 15"/>
          <p:cNvSpPr/>
          <p:nvPr/>
        </p:nvSpPr>
        <p:spPr>
          <a:xfrm>
            <a:off x="3639312" y="2697480"/>
            <a:ext cx="1481328" cy="594360"/>
          </a:xfrm>
          <a:prstGeom prst="rect">
            <a:avLst/>
          </a:prstGeom>
          <a:solidFill>
            <a:srgbClr val="1A1A1A"/>
          </a:solidFill>
          <a:ln w="12700">
            <a:solidFill>
              <a:srgbClr val="2DC653"/>
            </a:solidFill>
            <a:prstDash val="solid"/>
          </a:ln>
        </p:spPr>
      </p:sp>
      <p:sp>
        <p:nvSpPr>
          <p:cNvPr id="19" name="Shape 16"/>
          <p:cNvSpPr/>
          <p:nvPr/>
        </p:nvSpPr>
        <p:spPr>
          <a:xfrm>
            <a:off x="3639312" y="2697480"/>
            <a:ext cx="45720" cy="594360"/>
          </a:xfrm>
          <a:prstGeom prst="rect">
            <a:avLst/>
          </a:prstGeom>
          <a:solidFill>
            <a:srgbClr val="2DC653"/>
          </a:solidFill>
          <a:ln w="12700">
            <a:solidFill>
              <a:srgbClr val="2DC653"/>
            </a:solidFill>
            <a:prstDash val="solid"/>
          </a:ln>
        </p:spPr>
      </p:sp>
      <p:sp>
        <p:nvSpPr>
          <p:cNvPr id="20" name="Text 17"/>
          <p:cNvSpPr/>
          <p:nvPr/>
        </p:nvSpPr>
        <p:spPr>
          <a:xfrm>
            <a:off x="3730752" y="2752344"/>
            <a:ext cx="365760" cy="182880"/>
          </a:xfrm>
          <a:prstGeom prst="rect">
            <a:avLst/>
          </a:prstGeom>
          <a:noFill/>
          <a:ln/>
        </p:spPr>
        <p:txBody>
          <a:bodyPr wrap="square" lIns="0" tIns="0" rIns="0" bIns="0" rtlCol="0" anchor="ctr"/>
          <a:lstStyle/>
          <a:p>
            <a:pPr indent="0" marL="0">
              <a:buNone/>
            </a:pPr>
            <a:r>
              <a:rPr lang="en-US" sz="700" b="1" dirty="0">
                <a:solidFill>
                  <a:srgbClr val="2DC653"/>
                </a:solidFill>
                <a:latin typeface="Calibri" pitchFamily="34" charset="0"/>
                <a:ea typeface="Calibri" pitchFamily="34" charset="-122"/>
                <a:cs typeface="Calibri" pitchFamily="34" charset="-120"/>
              </a:rPr>
              <a:t>02</a:t>
            </a:r>
            <a:endParaRPr lang="en-US" sz="700" dirty="0"/>
          </a:p>
        </p:txBody>
      </p:sp>
      <p:sp>
        <p:nvSpPr>
          <p:cNvPr id="21" name="Text 18"/>
          <p:cNvSpPr/>
          <p:nvPr/>
        </p:nvSpPr>
        <p:spPr>
          <a:xfrm>
            <a:off x="3730752" y="2953512"/>
            <a:ext cx="1316736"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Magisterium</a:t>
            </a:r>
            <a:endParaRPr lang="en-US" sz="900" dirty="0"/>
          </a:p>
        </p:txBody>
      </p:sp>
      <p:sp>
        <p:nvSpPr>
          <p:cNvPr id="22" name="Shape 19"/>
          <p:cNvSpPr/>
          <p:nvPr/>
        </p:nvSpPr>
        <p:spPr>
          <a:xfrm>
            <a:off x="5120640" y="2994660"/>
            <a:ext cx="109728" cy="0"/>
          </a:xfrm>
          <a:prstGeom prst="line">
            <a:avLst/>
          </a:prstGeom>
          <a:noFill/>
          <a:ln w="12700">
            <a:solidFill>
              <a:srgbClr val="444444"/>
            </a:solidFill>
            <a:prstDash val="solid"/>
          </a:ln>
        </p:spPr>
      </p:sp>
      <p:sp>
        <p:nvSpPr>
          <p:cNvPr id="23" name="Shape 20"/>
          <p:cNvSpPr/>
          <p:nvPr/>
        </p:nvSpPr>
        <p:spPr>
          <a:xfrm>
            <a:off x="5230368" y="2697480"/>
            <a:ext cx="1481328" cy="594360"/>
          </a:xfrm>
          <a:prstGeom prst="rect">
            <a:avLst/>
          </a:prstGeom>
          <a:solidFill>
            <a:srgbClr val="1A1A1A"/>
          </a:solidFill>
          <a:ln w="12700">
            <a:solidFill>
              <a:srgbClr val="7B5EA7"/>
            </a:solidFill>
            <a:prstDash val="solid"/>
          </a:ln>
        </p:spPr>
      </p:sp>
      <p:sp>
        <p:nvSpPr>
          <p:cNvPr id="24" name="Shape 21"/>
          <p:cNvSpPr/>
          <p:nvPr/>
        </p:nvSpPr>
        <p:spPr>
          <a:xfrm>
            <a:off x="5230368" y="2697480"/>
            <a:ext cx="45720" cy="594360"/>
          </a:xfrm>
          <a:prstGeom prst="rect">
            <a:avLst/>
          </a:prstGeom>
          <a:solidFill>
            <a:srgbClr val="7B5EA7"/>
          </a:solidFill>
          <a:ln w="12700">
            <a:solidFill>
              <a:srgbClr val="7B5EA7"/>
            </a:solidFill>
            <a:prstDash val="solid"/>
          </a:ln>
        </p:spPr>
      </p:sp>
      <p:sp>
        <p:nvSpPr>
          <p:cNvPr id="25" name="Text 22"/>
          <p:cNvSpPr/>
          <p:nvPr/>
        </p:nvSpPr>
        <p:spPr>
          <a:xfrm>
            <a:off x="5321808" y="2752344"/>
            <a:ext cx="365760" cy="182880"/>
          </a:xfrm>
          <a:prstGeom prst="rect">
            <a:avLst/>
          </a:prstGeom>
          <a:noFill/>
          <a:ln/>
        </p:spPr>
        <p:txBody>
          <a:bodyPr wrap="square" lIns="0" tIns="0" rIns="0" bIns="0" rtlCol="0" anchor="ctr"/>
          <a:lstStyle/>
          <a:p>
            <a:pPr indent="0" marL="0">
              <a:buNone/>
            </a:pPr>
            <a:r>
              <a:rPr lang="en-US" sz="700" b="1" dirty="0">
                <a:solidFill>
                  <a:srgbClr val="7B5EA7"/>
                </a:solidFill>
                <a:latin typeface="Calibri" pitchFamily="34" charset="0"/>
                <a:ea typeface="Calibri" pitchFamily="34" charset="-122"/>
                <a:cs typeface="Calibri" pitchFamily="34" charset="-120"/>
              </a:rPr>
              <a:t>03</a:t>
            </a:r>
            <a:endParaRPr lang="en-US" sz="700" dirty="0"/>
          </a:p>
        </p:txBody>
      </p:sp>
      <p:sp>
        <p:nvSpPr>
          <p:cNvPr id="26" name="Text 23"/>
          <p:cNvSpPr/>
          <p:nvPr/>
        </p:nvSpPr>
        <p:spPr>
          <a:xfrm>
            <a:off x="5321808" y="2953512"/>
            <a:ext cx="1316736"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Brief + Prompt</a:t>
            </a:r>
            <a:endParaRPr lang="en-US" sz="900" dirty="0"/>
          </a:p>
        </p:txBody>
      </p:sp>
      <p:sp>
        <p:nvSpPr>
          <p:cNvPr id="27" name="Shape 24"/>
          <p:cNvSpPr/>
          <p:nvPr/>
        </p:nvSpPr>
        <p:spPr>
          <a:xfrm>
            <a:off x="6711696" y="2994660"/>
            <a:ext cx="109728" cy="0"/>
          </a:xfrm>
          <a:prstGeom prst="line">
            <a:avLst/>
          </a:prstGeom>
          <a:noFill/>
          <a:ln w="12700">
            <a:solidFill>
              <a:srgbClr val="444444"/>
            </a:solidFill>
            <a:prstDash val="solid"/>
          </a:ln>
        </p:spPr>
      </p:sp>
      <p:sp>
        <p:nvSpPr>
          <p:cNvPr id="28" name="Shape 25"/>
          <p:cNvSpPr/>
          <p:nvPr/>
        </p:nvSpPr>
        <p:spPr>
          <a:xfrm>
            <a:off x="6821424" y="2697480"/>
            <a:ext cx="1481328" cy="594360"/>
          </a:xfrm>
          <a:prstGeom prst="rect">
            <a:avLst/>
          </a:prstGeom>
          <a:solidFill>
            <a:srgbClr val="1A1A1A"/>
          </a:solidFill>
          <a:ln w="12700">
            <a:solidFill>
              <a:srgbClr val="F4A01C"/>
            </a:solidFill>
            <a:prstDash val="solid"/>
          </a:ln>
        </p:spPr>
      </p:sp>
      <p:sp>
        <p:nvSpPr>
          <p:cNvPr id="29" name="Shape 26"/>
          <p:cNvSpPr/>
          <p:nvPr/>
        </p:nvSpPr>
        <p:spPr>
          <a:xfrm>
            <a:off x="6821424" y="2697480"/>
            <a:ext cx="45720" cy="594360"/>
          </a:xfrm>
          <a:prstGeom prst="rect">
            <a:avLst/>
          </a:prstGeom>
          <a:solidFill>
            <a:srgbClr val="F4A01C"/>
          </a:solidFill>
          <a:ln w="12700">
            <a:solidFill>
              <a:srgbClr val="F4A01C"/>
            </a:solidFill>
            <a:prstDash val="solid"/>
          </a:ln>
        </p:spPr>
      </p:sp>
      <p:sp>
        <p:nvSpPr>
          <p:cNvPr id="30" name="Text 27"/>
          <p:cNvSpPr/>
          <p:nvPr/>
        </p:nvSpPr>
        <p:spPr>
          <a:xfrm>
            <a:off x="6912864" y="2752344"/>
            <a:ext cx="365760" cy="182880"/>
          </a:xfrm>
          <a:prstGeom prst="rect">
            <a:avLst/>
          </a:prstGeom>
          <a:noFill/>
          <a:ln/>
        </p:spPr>
        <p:txBody>
          <a:bodyPr wrap="square" lIns="0" tIns="0" rIns="0" bIns="0" rtlCol="0" anchor="ctr"/>
          <a:lstStyle/>
          <a:p>
            <a:pPr indent="0" marL="0">
              <a:buNone/>
            </a:pPr>
            <a:r>
              <a:rPr lang="en-US" sz="700" b="1" dirty="0">
                <a:solidFill>
                  <a:srgbClr val="F4A01C"/>
                </a:solidFill>
                <a:latin typeface="Calibri" pitchFamily="34" charset="0"/>
                <a:ea typeface="Calibri" pitchFamily="34" charset="-122"/>
                <a:cs typeface="Calibri" pitchFamily="34" charset="-120"/>
              </a:rPr>
              <a:t>04</a:t>
            </a:r>
            <a:endParaRPr lang="en-US" sz="700" dirty="0"/>
          </a:p>
        </p:txBody>
      </p:sp>
      <p:sp>
        <p:nvSpPr>
          <p:cNvPr id="31" name="Text 28"/>
          <p:cNvSpPr/>
          <p:nvPr/>
        </p:nvSpPr>
        <p:spPr>
          <a:xfrm>
            <a:off x="6912864" y="2953512"/>
            <a:ext cx="1316736"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CopilotERE / MagicSchool</a:t>
            </a:r>
            <a:endParaRPr lang="en-US" sz="900" dirty="0"/>
          </a:p>
        </p:txBody>
      </p:sp>
      <p:sp>
        <p:nvSpPr>
          <p:cNvPr id="32" name="Text 29"/>
          <p:cNvSpPr/>
          <p:nvPr/>
        </p:nvSpPr>
        <p:spPr>
          <a:xfrm>
            <a:off x="502920" y="3456432"/>
            <a:ext cx="8229600" cy="201168"/>
          </a:xfrm>
          <a:prstGeom prst="rect">
            <a:avLst/>
          </a:prstGeom>
          <a:noFill/>
          <a:ln/>
        </p:spPr>
        <p:txBody>
          <a:bodyPr wrap="square" lIns="0" tIns="0" rIns="0" bIns="0" rtlCol="0" anchor="ctr"/>
          <a:lstStyle/>
          <a:p>
            <a:pPr indent="0" marL="0">
              <a:buNone/>
            </a:pPr>
            <a:r>
              <a:rPr lang="en-US" sz="750" spc="200" kern="0" dirty="0">
                <a:solidFill>
                  <a:srgbClr val="00B4D8"/>
                </a:solidFill>
                <a:latin typeface="Calibri" pitchFamily="34" charset="0"/>
                <a:ea typeface="Calibri" pitchFamily="34" charset="-122"/>
                <a:cs typeface="Calibri" pitchFamily="34" charset="-120"/>
              </a:rPr>
              <a:t>RECURSOS DISPONIBLES</a:t>
            </a:r>
            <a:endParaRPr lang="en-US" sz="750" dirty="0"/>
          </a:p>
        </p:txBody>
      </p:sp>
      <p:sp>
        <p:nvSpPr>
          <p:cNvPr id="33" name="Text 30"/>
          <p:cNvSpPr/>
          <p:nvPr/>
        </p:nvSpPr>
        <p:spPr>
          <a:xfrm>
            <a:off x="502920" y="3730752"/>
            <a:ext cx="3657600" cy="2377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Workflow completo + Diagrama</a:t>
            </a:r>
            <a:endParaRPr lang="en-US" sz="950" dirty="0"/>
          </a:p>
        </p:txBody>
      </p:sp>
      <p:sp>
        <p:nvSpPr>
          <p:cNvPr id="34" name="Text 31"/>
          <p:cNvSpPr/>
          <p:nvPr/>
        </p:nvSpPr>
        <p:spPr>
          <a:xfrm>
            <a:off x="4297680" y="3730752"/>
            <a:ext cx="4754880" cy="237744"/>
          </a:xfrm>
          <a:prstGeom prst="rect">
            <a:avLst/>
          </a:prstGeom>
          <a:noFill/>
          <a:ln/>
        </p:spPr>
        <p:txBody>
          <a:bodyPr wrap="square" lIns="0" tIns="0" rIns="0" bIns="0" rtlCol="0" anchor="ctr"/>
          <a:lstStyle/>
          <a:p>
            <a:pPr indent="0" marL="0">
              <a:buNone/>
            </a:pPr>
            <a:r>
              <a:rPr lang="en-US" sz="850" i="1" dirty="0">
                <a:solidFill>
                  <a:srgbClr val="00B4D8"/>
                </a:solidFill>
                <a:latin typeface="Calibri" pitchFamily="34" charset="0"/>
                <a:ea typeface="Calibri" pitchFamily="34" charset="-122"/>
                <a:cs typeface="Calibri" pitchFamily="34" charset="-120"/>
              </a:rPr>
              <a:t>etbeducation.github.io/workflow-ia-religion</a:t>
            </a:r>
            <a:endParaRPr lang="en-US" sz="850" dirty="0"/>
          </a:p>
        </p:txBody>
      </p:sp>
      <p:sp>
        <p:nvSpPr>
          <p:cNvPr id="35" name="Text 32"/>
          <p:cNvSpPr/>
          <p:nvPr/>
        </p:nvSpPr>
        <p:spPr>
          <a:xfrm>
            <a:off x="502920" y="4023360"/>
            <a:ext cx="3657600" cy="2377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Prompt Template PDF</a:t>
            </a:r>
            <a:endParaRPr lang="en-US" sz="950" dirty="0"/>
          </a:p>
        </p:txBody>
      </p:sp>
      <p:sp>
        <p:nvSpPr>
          <p:cNvPr id="36" name="Text 33"/>
          <p:cNvSpPr/>
          <p:nvPr/>
        </p:nvSpPr>
        <p:spPr>
          <a:xfrm>
            <a:off x="4297680" y="4023360"/>
            <a:ext cx="4754880" cy="237744"/>
          </a:xfrm>
          <a:prstGeom prst="rect">
            <a:avLst/>
          </a:prstGeom>
          <a:noFill/>
          <a:ln/>
        </p:spPr>
        <p:txBody>
          <a:bodyPr wrap="square" lIns="0" tIns="0" rIns="0" bIns="0" rtlCol="0" anchor="ctr"/>
          <a:lstStyle/>
          <a:p>
            <a:pPr indent="0" marL="0">
              <a:buNone/>
            </a:pPr>
            <a:r>
              <a:rPr lang="en-US" sz="850" i="1" dirty="0">
                <a:solidFill>
                  <a:srgbClr val="00B4D8"/>
                </a:solidFill>
                <a:latin typeface="Calibri" pitchFamily="34" charset="0"/>
                <a:ea typeface="Calibri" pitchFamily="34" charset="-122"/>
                <a:cs typeface="Calibri" pitchFamily="34" charset="-120"/>
              </a:rPr>
              <a:t>etbeducation.github.io/workflow-ia-religion/ETB-prompt-template-religion.pdf</a:t>
            </a:r>
            <a:endParaRPr lang="en-US" sz="850" dirty="0"/>
          </a:p>
        </p:txBody>
      </p:sp>
      <p:sp>
        <p:nvSpPr>
          <p:cNvPr id="37" name="Text 34"/>
          <p:cNvSpPr/>
          <p:nvPr/>
        </p:nvSpPr>
        <p:spPr>
          <a:xfrm>
            <a:off x="502920" y="4315968"/>
            <a:ext cx="3657600" cy="2377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Diagrama de flujo interactivo</a:t>
            </a:r>
            <a:endParaRPr lang="en-US" sz="950" dirty="0"/>
          </a:p>
        </p:txBody>
      </p:sp>
      <p:sp>
        <p:nvSpPr>
          <p:cNvPr id="38" name="Text 35"/>
          <p:cNvSpPr/>
          <p:nvPr/>
        </p:nvSpPr>
        <p:spPr>
          <a:xfrm>
            <a:off x="4297680" y="4315968"/>
            <a:ext cx="4754880" cy="237744"/>
          </a:xfrm>
          <a:prstGeom prst="rect">
            <a:avLst/>
          </a:prstGeom>
          <a:noFill/>
          <a:ln/>
        </p:spPr>
        <p:txBody>
          <a:bodyPr wrap="square" lIns="0" tIns="0" rIns="0" bIns="0" rtlCol="0" anchor="ctr"/>
          <a:lstStyle/>
          <a:p>
            <a:pPr indent="0" marL="0">
              <a:buNone/>
            </a:pPr>
            <a:r>
              <a:rPr lang="en-US" sz="850" i="1" dirty="0">
                <a:solidFill>
                  <a:srgbClr val="00B4D8"/>
                </a:solidFill>
                <a:latin typeface="Calibri" pitchFamily="34" charset="0"/>
                <a:ea typeface="Calibri" pitchFamily="34" charset="-122"/>
                <a:cs typeface="Calibri" pitchFamily="34" charset="-120"/>
              </a:rPr>
              <a:t>etbeducation.github.io/workflow-ia-religion/diagrama-flujo.html</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para Maestros de Religión · ETB.education</dc:title>
  <dc:subject>PptxGenJS Presentation</dc:subject>
  <dc:creator>EdTech Believers LLC</dc:creator>
  <cp:lastModifiedBy>EdTech Believers LLC</cp:lastModifiedBy>
  <cp:revision>1</cp:revision>
  <dcterms:created xsi:type="dcterms:W3CDTF">2026-04-23T19:56:10Z</dcterms:created>
  <dcterms:modified xsi:type="dcterms:W3CDTF">2026-04-23T19:56:10Z</dcterms:modified>
</cp:coreProperties>
</file>